
<file path=[Content_Types].xml><?xml version="1.0" encoding="utf-8"?>
<Types xmlns="http://schemas.openxmlformats.org/package/2006/content-types">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8.xml"/>
  <Override ContentType="application/vnd.openxmlformats-officedocument.presentationml.notesSlide+xml" PartName="/ppt/notesSlides/notesSlide7.xml"/>
  <Override ContentType="application/vnd.openxmlformats-officedocument.presentationml.notesSlide+xml" PartName="/ppt/notesSlides/notesSlide2.xml"/>
  <Override ContentType="application/vnd.openxmlformats-officedocument.presentationml.notesSlide+xml" PartName="/ppt/notesSlides/notesSlide5.xml"/>
  <Override ContentType="application/vnd.openxmlformats-officedocument.presentationml.notesSlide+xml" PartName="/ppt/notesSlides/notesSlide4.xml"/>
  <Override ContentType="application/vnd.openxmlformats-officedocument.presentationml.slideLayout+xml" PartName="/ppt/slideLayouts/slideLayout1.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6.xml"/>
  <Override ContentType="application/vnd.openxmlformats-officedocument.presentationml.slide+xml" PartName="/ppt/slides/slide9.xml"/>
  <Override ContentType="application/vnd.openxmlformats-officedocument.presentationml.slide+xml" PartName="/ppt/slides/slide5.xml"/>
  <Override ContentType="application/vnd.openxmlformats-officedocument.presentationml.slide+xml" PartName="/ppt/slides/slide8.xml"/>
  <Override ContentType="application/vnd.openxmlformats-officedocument.presentationml.slide+xml" PartName="/ppt/slides/slide7.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48" r:id="rId3"/>
  </p:sldMasterIdLst>
  <p:notesMasterIdLst>
    <p:notesMasterId r:id="rId4"/>
  </p:notesMasterIdLst>
  <p:sldIdLst>
    <p:sldId id="256" r:id="rId5"/>
    <p:sldId id="257" r:id="rId6"/>
    <p:sldId id="258" r:id="rId7"/>
    <p:sldId id="259" r:id="rId8"/>
    <p:sldId id="260" r:id="rId9"/>
    <p:sldId id="261" r:id="rId10"/>
    <p:sldId id="262" r:id="rId11"/>
    <p:sldId id="263" r:id="rId12"/>
    <p:sldId id="264" r:id="rId13"/>
  </p:sldIdLst>
  <p:sldSz cy="6858000" cx="12192000"/>
  <p:notesSz cx="6858000" cy="12192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defaultTextStyle>
  <p:extLst>
    <p:ext uri="GoogleSlidesCustomDataVersion2">
      <go:slidesCustomData xmlns:go="http://customooxmlschemas.google.com/" r:id="rId14" roundtripDataSignature="AMtx7mhgleINc5R42XDKovKuerA1MIvl0w=="/>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_rels/presentation.xml.rels><?xml version="1.0" encoding="UTF-8" standalone="yes"?><Relationships xmlns="http://schemas.openxmlformats.org/package/2006/relationships"><Relationship Id="rId11" Type="http://schemas.openxmlformats.org/officeDocument/2006/relationships/slide" Target="slides/slide7.xml"/><Relationship Id="rId10" Type="http://schemas.openxmlformats.org/officeDocument/2006/relationships/slide" Target="slides/slide6.xml"/><Relationship Id="rId13" Type="http://schemas.openxmlformats.org/officeDocument/2006/relationships/slide" Target="slides/slide9.xml"/><Relationship Id="rId12" Type="http://schemas.openxmlformats.org/officeDocument/2006/relationships/slide" Target="slides/slide8.xml"/><Relationship Id="rId1" Type="http://schemas.openxmlformats.org/officeDocument/2006/relationships/theme" Target="theme/theme2.xml"/><Relationship Id="rId2" Type="http://schemas.openxmlformats.org/officeDocument/2006/relationships/presProps" Target="presProps.xml"/><Relationship Id="rId3" Type="http://schemas.openxmlformats.org/officeDocument/2006/relationships/slideMaster" Target="slideMasters/slideMaster1.xml"/><Relationship Id="rId4" Type="http://schemas.openxmlformats.org/officeDocument/2006/relationships/notesMaster" Target="notesMasters/notesMaster1.xml"/><Relationship Id="rId9" Type="http://schemas.openxmlformats.org/officeDocument/2006/relationships/slide" Target="slides/slide5.xml"/><Relationship Id="rId14" Type="http://customschemas.google.com/relationships/presentationmetadata" Target="metadata"/><Relationship Id="rId5" Type="http://schemas.openxmlformats.org/officeDocument/2006/relationships/slide" Target="slides/slide1.xml"/><Relationship Id="rId6" Type="http://schemas.openxmlformats.org/officeDocument/2006/relationships/slide" Target="slides/slide2.xml"/><Relationship Id="rId7" Type="http://schemas.openxmlformats.org/officeDocument/2006/relationships/slide" Target="slides/slide3.xml"/><Relationship Id="rId8" Type="http://schemas.openxmlformats.org/officeDocument/2006/relationships/slide" Target="slides/slide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2971800" cy="458788"/>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4" name="Google Shape;4;n"/>
          <p:cNvSpPr txBox="1"/>
          <p:nvPr>
            <p:ph idx="10" type="dt"/>
          </p:nvPr>
        </p:nvSpPr>
        <p:spPr>
          <a:xfrm>
            <a:off x="3884613" y="0"/>
            <a:ext cx="2971800" cy="458788"/>
          </a:xfrm>
          <a:prstGeom prst="rect">
            <a:avLst/>
          </a:prstGeom>
          <a:noFill/>
          <a:ln>
            <a:noFill/>
          </a:ln>
        </p:spPr>
        <p:txBody>
          <a:bodyPr anchorCtr="0" anchor="t" bIns="45700" lIns="91425" spcFirstLastPara="1" rIns="91425" wrap="square" tIns="45700">
            <a:noAutofit/>
          </a:bodyPr>
          <a:lstStyle>
            <a:lvl1pPr lvl="0" marR="0" rtl="0" algn="r">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5" name="Google Shape;5;n"/>
          <p:cNvSpPr/>
          <p:nvPr>
            <p:ph idx="3"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lvl1pPr indent="-228600" lvl="0" marL="457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indent="-228600" lvl="1" marL="914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2pPr>
            <a:lvl3pPr indent="-228600" lvl="2" marL="1371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3pPr>
            <a:lvl4pPr indent="-228600" lvl="3" marL="1828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4pPr>
            <a:lvl5pPr indent="-228600" lvl="4" marL="22860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5pPr>
            <a:lvl6pPr indent="-228600" lvl="5" marL="2743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6pPr>
            <a:lvl7pPr indent="-228600" lvl="6" marL="3200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7pPr>
            <a:lvl8pPr indent="-228600" lvl="7" marL="3657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8pPr>
            <a:lvl9pPr indent="-228600" lvl="8" marL="4114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9pPr>
          </a:lstStyle>
          <a:p/>
        </p:txBody>
      </p:sp>
      <p:sp>
        <p:nvSpPr>
          <p:cNvPr id="7" name="Google Shape;7;n"/>
          <p:cNvSpPr txBox="1"/>
          <p:nvPr>
            <p:ph idx="11" type="ftr"/>
          </p:nvPr>
        </p:nvSpPr>
        <p:spPr>
          <a:xfrm>
            <a:off x="0" y="8685213"/>
            <a:ext cx="2971800" cy="458787"/>
          </a:xfrm>
          <a:prstGeom prst="rect">
            <a:avLst/>
          </a:prstGeom>
          <a:noFill/>
          <a:ln>
            <a:noFill/>
          </a:ln>
        </p:spPr>
        <p:txBody>
          <a:bodyPr anchorCtr="0" anchor="b"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8" name="Google Shape;8;n"/>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en-US" sz="1200" u="none" cap="none" strike="noStrike">
                <a:solidFill>
                  <a:schemeClr val="dk1"/>
                </a:solidFill>
                <a:latin typeface="Calibri"/>
                <a:ea typeface="Calibri"/>
                <a:cs typeface="Calibri"/>
                <a:sym typeface="Calibri"/>
              </a:rPr>
              <a:t>‹#›</a:t>
            </a:fld>
            <a:endParaRPr b="0" i="0" sz="1200" u="none" cap="none" strike="noStrike">
              <a:solidFill>
                <a:schemeClr val="dk1"/>
              </a:solidFill>
              <a:latin typeface="Calibri"/>
              <a:ea typeface="Calibri"/>
              <a:cs typeface="Calibri"/>
              <a:sym typeface="Calibri"/>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 name="Shape 11"/>
        <p:cNvGrpSpPr/>
        <p:nvPr/>
      </p:nvGrpSpPr>
      <p:grpSpPr>
        <a:xfrm>
          <a:off x="0" y="0"/>
          <a:ext cx="0" cy="0"/>
          <a:chOff x="0" y="0"/>
          <a:chExt cx="0" cy="0"/>
        </a:xfrm>
      </p:grpSpPr>
      <p:sp>
        <p:nvSpPr>
          <p:cNvPr id="12" name="Google Shape;12;p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3" name="Google Shape;13;p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Ntina is one build serving two goals: our summer school final project (the dataset and the linguistic analysis) and our entry to the Sahara CodeSwitch Africa Challenge in the Agriculture and Education track. Final language pairs depend on what Sahara v2.5 bilingual beta actually exposes.</a:t>
            </a:r>
            <a:endParaRPr/>
          </a:p>
        </p:txBody>
      </p:sp>
      <p:sp>
        <p:nvSpPr>
          <p:cNvPr id="14" name="Google Shape;14;p1: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 name="Shape 28"/>
        <p:cNvGrpSpPr/>
        <p:nvPr/>
      </p:nvGrpSpPr>
      <p:grpSpPr>
        <a:xfrm>
          <a:off x="0" y="0"/>
          <a:ext cx="0" cy="0"/>
          <a:chOff x="0" y="0"/>
          <a:chExt cx="0" cy="0"/>
        </a:xfrm>
      </p:grpSpPr>
      <p:sp>
        <p:nvSpPr>
          <p:cNvPr id="29" name="Google Shape;29;p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0" name="Google Shape;30;p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TaRL: assess each child one-on-one, group by level not grade, teach at that level. Randomised evaluations back it. The bottleneck is trained human time on repeated oral assessment, in a language the child actually speaks.</a:t>
            </a:r>
            <a:endParaRPr/>
          </a:p>
        </p:txBody>
      </p:sp>
      <p:sp>
        <p:nvSpPr>
          <p:cNvPr id="31" name="Google Shape;31;p2: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8" name="Shape 48"/>
        <p:cNvGrpSpPr/>
        <p:nvPr/>
      </p:nvGrpSpPr>
      <p:grpSpPr>
        <a:xfrm>
          <a:off x="0" y="0"/>
          <a:ext cx="0" cy="0"/>
          <a:chOff x="0" y="0"/>
          <a:chExt cx="0" cy="0"/>
        </a:xfrm>
      </p:grpSpPr>
      <p:sp>
        <p:nvSpPr>
          <p:cNvPr id="49" name="Google Shape;49;p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0" name="Google Shape;50;p3: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Key technical insight on step 01: in a reading assessment the target text is known in advance, so we use constrained decoding rather than open ASR. That matters because child read-aloud speech is the hardest case for any speech model.</a:t>
            </a:r>
            <a:endParaRPr/>
          </a:p>
        </p:txBody>
      </p:sp>
      <p:sp>
        <p:nvSpPr>
          <p:cNvPr id="51" name="Google Shape;51;p3: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6" name="Shape 86"/>
        <p:cNvGrpSpPr/>
        <p:nvPr/>
      </p:nvGrpSpPr>
      <p:grpSpPr>
        <a:xfrm>
          <a:off x="0" y="0"/>
          <a:ext cx="0" cy="0"/>
          <a:chOff x="0" y="0"/>
          <a:chExt cx="0" cy="0"/>
        </a:xfrm>
      </p:grpSpPr>
      <p:sp>
        <p:nvSpPr>
          <p:cNvPr id="87" name="Google Shape;87;p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88" name="Google Shape;88;p4: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The text dataset is authored, not scraped, because the TaRL reading test must be rebuilt for each language and the choices involved are genuinely linguistic. The audio dataset is what we submit for the challenge benchmark.</a:t>
            </a:r>
            <a:endParaRPr/>
          </a:p>
        </p:txBody>
      </p:sp>
      <p:sp>
        <p:nvSpPr>
          <p:cNvPr id="89" name="Google Shape;89;p4: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6" name="Shape 106"/>
        <p:cNvGrpSpPr/>
        <p:nvPr/>
      </p:nvGrpSpPr>
      <p:grpSpPr>
        <a:xfrm>
          <a:off x="0" y="0"/>
          <a:ext cx="0" cy="0"/>
          <a:chOff x="0" y="0"/>
          <a:chExt cx="0" cy="0"/>
        </a:xfrm>
      </p:grpSpPr>
      <p:sp>
        <p:nvSpPr>
          <p:cNvPr id="107" name="Google Shape;107;p5: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08" name="Google Shape;108;p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1" name="Shape 131"/>
        <p:cNvGrpSpPr/>
        <p:nvPr/>
      </p:nvGrpSpPr>
      <p:grpSpPr>
        <a:xfrm>
          <a:off x="0" y="0"/>
          <a:ext cx="0" cy="0"/>
          <a:chOff x="0" y="0"/>
          <a:chExt cx="0" cy="0"/>
        </a:xfrm>
      </p:grpSpPr>
      <p:sp>
        <p:nvSpPr>
          <p:cNvPr id="132" name="Google Shape;132;p6: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33" name="Google Shape;133;p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0" name="Shape 160"/>
        <p:cNvGrpSpPr/>
        <p:nvPr/>
      </p:nvGrpSpPr>
      <p:grpSpPr>
        <a:xfrm>
          <a:off x="0" y="0"/>
          <a:ext cx="0" cy="0"/>
          <a:chOff x="0" y="0"/>
          <a:chExt cx="0" cy="0"/>
        </a:xfrm>
      </p:grpSpPr>
      <p:sp>
        <p:nvSpPr>
          <p:cNvPr id="161" name="Google Shape;161;p7: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62" name="Google Shape;162;p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7" name="Shape 167"/>
        <p:cNvGrpSpPr/>
        <p:nvPr/>
      </p:nvGrpSpPr>
      <p:grpSpPr>
        <a:xfrm>
          <a:off x="0" y="0"/>
          <a:ext cx="0" cy="0"/>
          <a:chOff x="0" y="0"/>
          <a:chExt cx="0" cy="0"/>
        </a:xfrm>
      </p:grpSpPr>
      <p:sp>
        <p:nvSpPr>
          <p:cNvPr id="168" name="Google Shape;168;p8: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69" name="Google Shape;169;p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2" name="Shape 182"/>
        <p:cNvGrpSpPr/>
        <p:nvPr/>
      </p:nvGrpSpPr>
      <p:grpSpPr>
        <a:xfrm>
          <a:off x="0" y="0"/>
          <a:ext cx="0" cy="0"/>
          <a:chOff x="0" y="0"/>
          <a:chExt cx="0" cy="0"/>
        </a:xfrm>
      </p:grpSpPr>
      <p:sp>
        <p:nvSpPr>
          <p:cNvPr id="183" name="Google Shape;183;p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84" name="Google Shape;184;p9: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One build, two deliverables: the annotated dataset and linguistic write-up is the summer school final project; the working agent plus the three-model benchmark is the challenge submission. Start consent paperwork in week one, it is the long pole.</a:t>
            </a:r>
            <a:endParaRPr/>
          </a:p>
        </p:txBody>
      </p:sp>
      <p:sp>
        <p:nvSpPr>
          <p:cNvPr id="185" name="Google Shape;185;p9: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EFAULT">
  <p:cSld name="DEFAULT">
    <p:bg>
      <p:bgPr>
        <a:solidFill>
          <a:schemeClr val="lt1"/>
        </a:solidFill>
      </p:bgPr>
    </p:bg>
    <p:spTree>
      <p:nvGrpSpPr>
        <p:cNvPr id="10" name="Shape 10"/>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2.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 name="Shape 9"/>
        <p:cNvGrpSpPr/>
        <p:nvPr/>
      </p:nvGrpSpPr>
      <p:grpSpPr>
        <a:xfrm>
          <a:off x="0" y="0"/>
          <a:ext cx="0" cy="0"/>
          <a:chOff x="0" y="0"/>
          <a:chExt cx="0" cy="0"/>
        </a:xfrm>
      </p:grpSpPr>
    </p:spTree>
  </p:cSld>
  <p:clrMap accent1="accent1" accent2="accent2" accent3="accent3" accent4="accent4" accent5="accent5" accent6="accent6" bg1="lt1" bg2="dk2" tx1="dk1" tx2="lt2" folHlink="folHlink" hlink="hlink"/>
  <p:sldLayoutIdLst>
    <p:sldLayoutId id="2147483649" r:id="rId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 Id="rId3" Type="http://schemas.openxmlformats.org/officeDocument/2006/relationships/image" Target="../media/image2.png"/><Relationship Id="rId4" Type="http://schemas.openxmlformats.org/officeDocument/2006/relationships/image" Target="../media/image3.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 Id="rId3" Type="http://schemas.openxmlformats.org/officeDocument/2006/relationships/image" Target="../media/image6.png"/><Relationship Id="rId4" Type="http://schemas.openxmlformats.org/officeDocument/2006/relationships/image" Target="../media/image5.png"/><Relationship Id="rId5" Type="http://schemas.openxmlformats.org/officeDocument/2006/relationships/image" Target="../media/image4.png"/><Relationship Id="rId6" Type="http://schemas.openxmlformats.org/officeDocument/2006/relationships/image" Target="../media/image7.png"/><Relationship Id="rId7" Type="http://schemas.openxmlformats.org/officeDocument/2006/relationships/image" Target="../media/image8.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 Id="rId3" Type="http://schemas.openxmlformats.org/officeDocument/2006/relationships/image" Target="../media/image1.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3B2320"/>
        </a:solidFill>
      </p:bgPr>
    </p:bg>
    <p:spTree>
      <p:nvGrpSpPr>
        <p:cNvPr id="15" name="Shape 15"/>
        <p:cNvGrpSpPr/>
        <p:nvPr/>
      </p:nvGrpSpPr>
      <p:grpSpPr>
        <a:xfrm>
          <a:off x="0" y="0"/>
          <a:ext cx="0" cy="0"/>
          <a:chOff x="0" y="0"/>
          <a:chExt cx="0" cy="0"/>
        </a:xfrm>
      </p:grpSpPr>
      <p:sp>
        <p:nvSpPr>
          <p:cNvPr id="16" name="Google Shape;16;p1"/>
          <p:cNvSpPr/>
          <p:nvPr/>
        </p:nvSpPr>
        <p:spPr>
          <a:xfrm>
            <a:off x="658417" y="958898"/>
            <a:ext cx="384000" cy="384000"/>
          </a:xfrm>
          <a:prstGeom prst="ellipse">
            <a:avLst/>
          </a:prstGeom>
          <a:solidFill>
            <a:srgbClr val="B8504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 name="Google Shape;17;p1"/>
          <p:cNvSpPr/>
          <p:nvPr/>
        </p:nvSpPr>
        <p:spPr>
          <a:xfrm>
            <a:off x="951025" y="958898"/>
            <a:ext cx="384000" cy="384000"/>
          </a:xfrm>
          <a:prstGeom prst="ellipse">
            <a:avLst/>
          </a:prstGeom>
          <a:solidFill>
            <a:srgbClr val="7E9C8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 name="Google Shape;18;p1"/>
          <p:cNvSpPr/>
          <p:nvPr/>
        </p:nvSpPr>
        <p:spPr>
          <a:xfrm>
            <a:off x="658415" y="1507528"/>
            <a:ext cx="3269400" cy="11430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7600"/>
              <a:buFont typeface="Cambria"/>
              <a:buNone/>
            </a:pPr>
            <a:r>
              <a:rPr b="1" i="0" lang="en-US" sz="7600" u="none" cap="none" strike="noStrike">
                <a:solidFill>
                  <a:srgbClr val="FFFFFF"/>
                </a:solidFill>
                <a:latin typeface="Cambria"/>
                <a:ea typeface="Cambria"/>
                <a:cs typeface="Cambria"/>
                <a:sym typeface="Cambria"/>
              </a:rPr>
              <a:t>Ntina</a:t>
            </a:r>
            <a:endParaRPr b="0" i="0" sz="7600" u="none" cap="none" strike="noStrike">
              <a:solidFill>
                <a:schemeClr val="dk1"/>
              </a:solidFill>
              <a:latin typeface="Calibri"/>
              <a:ea typeface="Calibri"/>
              <a:cs typeface="Calibri"/>
              <a:sym typeface="Calibri"/>
            </a:endParaRPr>
          </a:p>
        </p:txBody>
      </p:sp>
      <p:sp>
        <p:nvSpPr>
          <p:cNvPr id="19" name="Google Shape;19;p1"/>
          <p:cNvSpPr/>
          <p:nvPr/>
        </p:nvSpPr>
        <p:spPr>
          <a:xfrm>
            <a:off x="676705" y="2696258"/>
            <a:ext cx="7315200" cy="868800"/>
          </a:xfrm>
          <a:prstGeom prst="rect">
            <a:avLst/>
          </a:prstGeom>
          <a:noFill/>
          <a:ln>
            <a:noFill/>
          </a:ln>
        </p:spPr>
        <p:txBody>
          <a:bodyPr anchorCtr="0" anchor="ctr" bIns="0" lIns="0" spcFirstLastPara="1" rIns="0" wrap="square" tIns="0">
            <a:noAutofit/>
          </a:bodyPr>
          <a:lstStyle/>
          <a:p>
            <a:pPr indent="0" lvl="0" marL="0" marR="0" rtl="0" algn="l">
              <a:lnSpc>
                <a:spcPct val="142105"/>
              </a:lnSpc>
              <a:spcBef>
                <a:spcPts val="0"/>
              </a:spcBef>
              <a:spcAft>
                <a:spcPts val="0"/>
              </a:spcAft>
              <a:buClr>
                <a:srgbClr val="F0EFE2"/>
              </a:buClr>
              <a:buSzPts val="1900"/>
              <a:buFont typeface="Calibri"/>
              <a:buNone/>
            </a:pPr>
            <a:r>
              <a:rPr b="0" i="0" lang="en-US" sz="1900" u="none" cap="none" strike="noStrike">
                <a:solidFill>
                  <a:srgbClr val="F0EFE2"/>
                </a:solidFill>
                <a:latin typeface="Calibri"/>
                <a:ea typeface="Calibri"/>
                <a:cs typeface="Calibri"/>
                <a:sym typeface="Calibri"/>
              </a:rPr>
              <a:t>A code-switched voice agent that helps children learn to read in their own language</a:t>
            </a:r>
            <a:endParaRPr b="0" i="0" sz="1900" u="none" cap="none" strike="noStrike">
              <a:solidFill>
                <a:schemeClr val="dk1"/>
              </a:solidFill>
              <a:latin typeface="Calibri"/>
              <a:ea typeface="Calibri"/>
              <a:cs typeface="Calibri"/>
              <a:sym typeface="Calibri"/>
            </a:endParaRPr>
          </a:p>
        </p:txBody>
      </p:sp>
      <p:sp>
        <p:nvSpPr>
          <p:cNvPr id="20" name="Google Shape;20;p1"/>
          <p:cNvSpPr/>
          <p:nvPr/>
        </p:nvSpPr>
        <p:spPr>
          <a:xfrm>
            <a:off x="676705" y="3766106"/>
            <a:ext cx="1371600" cy="18300"/>
          </a:xfrm>
          <a:prstGeom prst="rect">
            <a:avLst/>
          </a:prstGeom>
          <a:solidFill>
            <a:srgbClr val="B8504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 name="Google Shape;21;p1"/>
          <p:cNvSpPr/>
          <p:nvPr/>
        </p:nvSpPr>
        <p:spPr>
          <a:xfrm>
            <a:off x="658412" y="4112905"/>
            <a:ext cx="6858000" cy="758700"/>
          </a:xfrm>
          <a:prstGeom prst="rect">
            <a:avLst/>
          </a:prstGeom>
          <a:noFill/>
          <a:ln>
            <a:noFill/>
          </a:ln>
        </p:spPr>
        <p:txBody>
          <a:bodyPr anchorCtr="0" anchor="ctr" bIns="0" lIns="0" spcFirstLastPara="1" rIns="0" wrap="square" tIns="0">
            <a:noAutofit/>
          </a:bodyPr>
          <a:lstStyle/>
          <a:p>
            <a:pPr indent="0" lvl="0" marL="0" marR="0" rtl="0" algn="l">
              <a:lnSpc>
                <a:spcPct val="161538"/>
              </a:lnSpc>
              <a:spcBef>
                <a:spcPts val="0"/>
              </a:spcBef>
              <a:spcAft>
                <a:spcPts val="0"/>
              </a:spcAft>
              <a:buClr>
                <a:srgbClr val="B85042"/>
              </a:buClr>
              <a:buSzPts val="1300"/>
              <a:buFont typeface="Calibri"/>
              <a:buNone/>
            </a:pPr>
            <a:r>
              <a:rPr b="1" i="0" lang="en-US" sz="1300" u="none" cap="none" strike="noStrike">
                <a:solidFill>
                  <a:srgbClr val="B85042"/>
                </a:solidFill>
                <a:latin typeface="Calibri"/>
                <a:ea typeface="Calibri"/>
                <a:cs typeface="Calibri"/>
                <a:sym typeface="Calibri"/>
              </a:rPr>
              <a:t>Team Ntina</a:t>
            </a:r>
            <a:endParaRPr b="0" i="0" sz="1300" u="none" cap="none" strike="noStrike">
              <a:solidFill>
                <a:schemeClr val="dk1"/>
              </a:solidFill>
              <a:latin typeface="Calibri"/>
              <a:ea typeface="Calibri"/>
              <a:cs typeface="Calibri"/>
              <a:sym typeface="Calibri"/>
            </a:endParaRPr>
          </a:p>
          <a:p>
            <a:pPr indent="0" lvl="0" marL="0" marR="0" rtl="0" algn="l">
              <a:lnSpc>
                <a:spcPct val="161538"/>
              </a:lnSpc>
              <a:spcBef>
                <a:spcPts val="0"/>
              </a:spcBef>
              <a:spcAft>
                <a:spcPts val="0"/>
              </a:spcAft>
              <a:buClr>
                <a:srgbClr val="F0EFE2"/>
              </a:buClr>
              <a:buSzPts val="1300"/>
              <a:buFont typeface="Calibri"/>
              <a:buNone/>
            </a:pPr>
            <a:r>
              <a:rPr b="1" i="0" lang="en-US" u="none" cap="none" strike="noStrike">
                <a:solidFill>
                  <a:srgbClr val="F0EFE2"/>
                </a:solidFill>
                <a:latin typeface="Calibri"/>
                <a:ea typeface="Calibri"/>
                <a:cs typeface="Calibri"/>
                <a:sym typeface="Calibri"/>
              </a:rPr>
              <a:t>Final project · African Computational Linguistics Summer Schoo</a:t>
            </a:r>
            <a:r>
              <a:rPr b="1" i="0" lang="en-US" u="none" cap="none" strike="noStrike">
                <a:solidFill>
                  <a:srgbClr val="F0EFE2"/>
                </a:solidFill>
                <a:latin typeface="Calibri"/>
                <a:ea typeface="Calibri"/>
                <a:cs typeface="Calibri"/>
                <a:sym typeface="Calibri"/>
              </a:rPr>
              <a:t>l</a:t>
            </a:r>
            <a:endParaRPr b="0" i="0" sz="1300" u="none" cap="none" strike="noStrike">
              <a:solidFill>
                <a:schemeClr val="dk1"/>
              </a:solidFill>
              <a:latin typeface="Calibri"/>
              <a:ea typeface="Calibri"/>
              <a:cs typeface="Calibri"/>
              <a:sym typeface="Calibri"/>
            </a:endParaRPr>
          </a:p>
        </p:txBody>
      </p:sp>
      <p:grpSp>
        <p:nvGrpSpPr>
          <p:cNvPr id="22" name="Google Shape;22;p1"/>
          <p:cNvGrpSpPr/>
          <p:nvPr/>
        </p:nvGrpSpPr>
        <p:grpSpPr>
          <a:xfrm>
            <a:off x="8614171" y="2993284"/>
            <a:ext cx="3017400" cy="1599900"/>
            <a:chOff x="8549640" y="2470836"/>
            <a:chExt cx="3017400" cy="1599900"/>
          </a:xfrm>
        </p:grpSpPr>
        <p:sp>
          <p:nvSpPr>
            <p:cNvPr id="23" name="Google Shape;23;p1"/>
            <p:cNvSpPr/>
            <p:nvPr/>
          </p:nvSpPr>
          <p:spPr>
            <a:xfrm>
              <a:off x="8549640" y="2470836"/>
              <a:ext cx="3017400" cy="1599900"/>
            </a:xfrm>
            <a:prstGeom prst="roundRect">
              <a:avLst>
                <a:gd fmla="val 3636" name="adj"/>
              </a:avLst>
            </a:prstGeom>
            <a:solidFill>
              <a:srgbClr val="50322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 name="Google Shape;24;p1"/>
            <p:cNvSpPr/>
            <p:nvPr/>
          </p:nvSpPr>
          <p:spPr>
            <a:xfrm>
              <a:off x="8869680" y="2745156"/>
              <a:ext cx="2469000" cy="274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7E9C8C"/>
                </a:buClr>
                <a:buSzPts val="1050"/>
                <a:buFont typeface="Calibri"/>
                <a:buNone/>
              </a:pPr>
              <a:r>
                <a:rPr b="1" i="0" lang="en-US" sz="1050" u="none" cap="none" strike="noStrike">
                  <a:solidFill>
                    <a:srgbClr val="7E9C8C"/>
                  </a:solidFill>
                  <a:latin typeface="Calibri"/>
                  <a:ea typeface="Calibri"/>
                  <a:cs typeface="Calibri"/>
                  <a:sym typeface="Calibri"/>
                </a:rPr>
                <a:t>SUPPORTED PAIRS</a:t>
              </a:r>
              <a:endParaRPr b="0" i="0" sz="1050" u="none" cap="none" strike="noStrike">
                <a:solidFill>
                  <a:schemeClr val="dk1"/>
                </a:solidFill>
                <a:latin typeface="Calibri"/>
                <a:ea typeface="Calibri"/>
                <a:cs typeface="Calibri"/>
                <a:sym typeface="Calibri"/>
              </a:endParaRPr>
            </a:p>
          </p:txBody>
        </p:sp>
        <p:sp>
          <p:nvSpPr>
            <p:cNvPr id="25" name="Google Shape;25;p1"/>
            <p:cNvSpPr/>
            <p:nvPr/>
          </p:nvSpPr>
          <p:spPr>
            <a:xfrm>
              <a:off x="8846813" y="3132740"/>
              <a:ext cx="2514600" cy="755400"/>
            </a:xfrm>
            <a:prstGeom prst="rect">
              <a:avLst/>
            </a:prstGeom>
            <a:noFill/>
            <a:ln>
              <a:noFill/>
            </a:ln>
          </p:spPr>
          <p:txBody>
            <a:bodyPr anchorCtr="0" anchor="ctr" bIns="0" lIns="0" spcFirstLastPara="1" rIns="0" wrap="square" tIns="0">
              <a:noAutofit/>
            </a:bodyPr>
            <a:lstStyle/>
            <a:p>
              <a:pPr indent="0" lvl="0" marL="0" marR="0" rtl="0" algn="l">
                <a:lnSpc>
                  <a:spcPct val="200000"/>
                </a:lnSpc>
                <a:spcBef>
                  <a:spcPts val="0"/>
                </a:spcBef>
                <a:spcAft>
                  <a:spcPts val="0"/>
                </a:spcAft>
                <a:buClr>
                  <a:srgbClr val="FFFFFF"/>
                </a:buClr>
                <a:buSzPts val="1500"/>
                <a:buFont typeface="Calibri"/>
                <a:buNone/>
              </a:pPr>
              <a:r>
                <a:rPr b="0" i="0" lang="en-US" sz="1500" u="none" cap="none" strike="noStrike">
                  <a:solidFill>
                    <a:srgbClr val="FFFFFF"/>
                  </a:solidFill>
                  <a:latin typeface="Calibri"/>
                  <a:ea typeface="Calibri"/>
                  <a:cs typeface="Calibri"/>
                  <a:sym typeface="Calibri"/>
                </a:rPr>
                <a:t>Swahili – English</a:t>
              </a:r>
              <a:endParaRPr b="0" i="0" sz="1500" u="none" cap="none" strike="noStrike">
                <a:solidFill>
                  <a:schemeClr val="dk1"/>
                </a:solidFill>
                <a:latin typeface="Calibri"/>
                <a:ea typeface="Calibri"/>
                <a:cs typeface="Calibri"/>
                <a:sym typeface="Calibri"/>
              </a:endParaRPr>
            </a:p>
            <a:p>
              <a:pPr indent="0" lvl="0" marL="0" marR="0" rtl="0" algn="l">
                <a:lnSpc>
                  <a:spcPct val="200000"/>
                </a:lnSpc>
                <a:spcBef>
                  <a:spcPts val="0"/>
                </a:spcBef>
                <a:spcAft>
                  <a:spcPts val="0"/>
                </a:spcAft>
                <a:buClr>
                  <a:srgbClr val="FFFFFF"/>
                </a:buClr>
                <a:buSzPts val="1500"/>
                <a:buFont typeface="Calibri"/>
                <a:buNone/>
              </a:pPr>
              <a:r>
                <a:rPr b="0" i="0" lang="en-US" sz="1500" u="none" cap="none" strike="noStrike">
                  <a:solidFill>
                    <a:srgbClr val="FFFFFF"/>
                  </a:solidFill>
                  <a:latin typeface="Calibri"/>
                  <a:ea typeface="Calibri"/>
                  <a:cs typeface="Calibri"/>
                  <a:sym typeface="Calibri"/>
                </a:rPr>
                <a:t>Yoruba – English</a:t>
              </a:r>
              <a:endParaRPr b="0" i="0" sz="1500" u="none" cap="none" strike="noStrike">
                <a:solidFill>
                  <a:schemeClr val="dk1"/>
                </a:solidFill>
                <a:latin typeface="Calibri"/>
                <a:ea typeface="Calibri"/>
                <a:cs typeface="Calibri"/>
                <a:sym typeface="Calibri"/>
              </a:endParaRPr>
            </a:p>
          </p:txBody>
        </p:sp>
      </p:grpSp>
      <p:sp>
        <p:nvSpPr>
          <p:cNvPr id="26" name="Google Shape;26;p1"/>
          <p:cNvSpPr/>
          <p:nvPr/>
        </p:nvSpPr>
        <p:spPr>
          <a:xfrm>
            <a:off x="8705870" y="5146663"/>
            <a:ext cx="2469000" cy="640200"/>
          </a:xfrm>
          <a:prstGeom prst="rect">
            <a:avLst/>
          </a:prstGeom>
          <a:noFill/>
          <a:ln>
            <a:noFill/>
          </a:ln>
        </p:spPr>
        <p:txBody>
          <a:bodyPr anchorCtr="0" anchor="ctr" bIns="0" lIns="0" spcFirstLastPara="1" rIns="0" wrap="square" tIns="0">
            <a:noAutofit/>
          </a:bodyPr>
          <a:lstStyle/>
          <a:p>
            <a:pPr indent="0" lvl="0" marL="0" marR="0" rtl="0" algn="l">
              <a:lnSpc>
                <a:spcPct val="145454"/>
              </a:lnSpc>
              <a:spcBef>
                <a:spcPts val="0"/>
              </a:spcBef>
              <a:spcAft>
                <a:spcPts val="0"/>
              </a:spcAft>
              <a:buClr>
                <a:srgbClr val="F0EFE2"/>
              </a:buClr>
              <a:buSzPts val="1100"/>
              <a:buFont typeface="Calibri"/>
              <a:buNone/>
            </a:pPr>
            <a:r>
              <a:rPr b="0" i="1" lang="en-US" sz="1100" u="none" cap="none" strike="noStrike">
                <a:solidFill>
                  <a:srgbClr val="F0EFE2"/>
                </a:solidFill>
                <a:latin typeface="Calibri"/>
                <a:ea typeface="Calibri"/>
                <a:cs typeface="Calibri"/>
                <a:sym typeface="Calibri"/>
              </a:rPr>
              <a:t>Adding a pair is a config file, not a code change.</a:t>
            </a:r>
            <a:endParaRPr b="0" i="0" sz="1100" u="none" cap="none" strike="noStrike">
              <a:solidFill>
                <a:schemeClr val="dk1"/>
              </a:solidFill>
              <a:latin typeface="Calibri"/>
              <a:ea typeface="Calibri"/>
              <a:cs typeface="Calibri"/>
              <a:sym typeface="Calibri"/>
            </a:endParaRPr>
          </a:p>
          <a:p>
            <a:pPr indent="0" lvl="0" marL="0" marR="0" rtl="0" algn="l">
              <a:lnSpc>
                <a:spcPct val="145454"/>
              </a:lnSpc>
              <a:spcBef>
                <a:spcPts val="0"/>
              </a:spcBef>
              <a:spcAft>
                <a:spcPts val="0"/>
              </a:spcAft>
              <a:buClr>
                <a:srgbClr val="F0EFE2"/>
              </a:buClr>
              <a:buSzPts val="1100"/>
              <a:buFont typeface="Calibri"/>
              <a:buNone/>
            </a:pPr>
            <a:r>
              <a:rPr b="0" i="1" lang="en-US" sz="1100" u="none" cap="none" strike="noStrike">
                <a:solidFill>
                  <a:srgbClr val="F0EFE2"/>
                </a:solidFill>
                <a:latin typeface="Calibri"/>
                <a:ea typeface="Calibri"/>
                <a:cs typeface="Calibri"/>
                <a:sym typeface="Calibri"/>
              </a:rPr>
              <a:t>GitHub: github.com/Ashuza11/ntina-tarl</a:t>
            </a:r>
            <a:endParaRPr b="0" i="0" sz="1100" u="none" cap="none" strike="noStrike">
              <a:solidFill>
                <a:schemeClr val="dk1"/>
              </a:solidFill>
              <a:latin typeface="Calibri"/>
              <a:ea typeface="Calibri"/>
              <a:cs typeface="Calibri"/>
              <a:sym typeface="Calibri"/>
            </a:endParaRPr>
          </a:p>
        </p:txBody>
      </p:sp>
      <p:pic>
        <p:nvPicPr>
          <p:cNvPr descr="Logo.png" id="27" name="Google Shape;27;p1"/>
          <p:cNvPicPr preferRelativeResize="0"/>
          <p:nvPr/>
        </p:nvPicPr>
        <p:blipFill rotWithShape="1">
          <a:blip r:embed="rId3">
            <a:alphaModFix/>
          </a:blip>
          <a:srcRect b="0" l="0" r="0" t="0"/>
          <a:stretch/>
        </p:blipFill>
        <p:spPr>
          <a:xfrm>
            <a:off x="9403461" y="1654222"/>
            <a:ext cx="2137346" cy="913350"/>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32" name="Shape 32"/>
        <p:cNvGrpSpPr/>
        <p:nvPr/>
      </p:nvGrpSpPr>
      <p:grpSpPr>
        <a:xfrm>
          <a:off x="0" y="0"/>
          <a:ext cx="0" cy="0"/>
          <a:chOff x="0" y="0"/>
          <a:chExt cx="0" cy="0"/>
        </a:xfrm>
      </p:grpSpPr>
      <p:sp>
        <p:nvSpPr>
          <p:cNvPr id="33" name="Google Shape;33;p2"/>
          <p:cNvSpPr/>
          <p:nvPr/>
        </p:nvSpPr>
        <p:spPr>
          <a:xfrm>
            <a:off x="640080" y="502920"/>
            <a:ext cx="7315200" cy="6400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B2422"/>
              </a:buClr>
              <a:buSzPts val="4000"/>
              <a:buFont typeface="Cambria"/>
              <a:buNone/>
            </a:pPr>
            <a:r>
              <a:rPr b="1" i="0" lang="en-US" sz="4000" u="none" cap="none" strike="noStrike">
                <a:solidFill>
                  <a:srgbClr val="2B2422"/>
                </a:solidFill>
                <a:latin typeface="Cambria"/>
                <a:ea typeface="Cambria"/>
                <a:cs typeface="Cambria"/>
                <a:sym typeface="Cambria"/>
              </a:rPr>
              <a:t>The problem</a:t>
            </a:r>
            <a:endParaRPr b="0" i="0" sz="4000" u="none" cap="none" strike="noStrike">
              <a:solidFill>
                <a:schemeClr val="dk1"/>
              </a:solidFill>
              <a:latin typeface="Calibri"/>
              <a:ea typeface="Calibri"/>
              <a:cs typeface="Calibri"/>
              <a:sym typeface="Calibri"/>
            </a:endParaRPr>
          </a:p>
        </p:txBody>
      </p:sp>
      <p:sp>
        <p:nvSpPr>
          <p:cNvPr id="34" name="Google Shape;34;p2"/>
          <p:cNvSpPr/>
          <p:nvPr/>
        </p:nvSpPr>
        <p:spPr>
          <a:xfrm>
            <a:off x="658368" y="1207008"/>
            <a:ext cx="7863840" cy="548640"/>
          </a:xfrm>
          <a:prstGeom prst="rect">
            <a:avLst/>
          </a:prstGeom>
          <a:noFill/>
          <a:ln>
            <a:noFill/>
          </a:ln>
        </p:spPr>
        <p:txBody>
          <a:bodyPr anchorCtr="0" anchor="ctr" bIns="0" lIns="0" spcFirstLastPara="1" rIns="0" wrap="square" tIns="0">
            <a:noAutofit/>
          </a:bodyPr>
          <a:lstStyle/>
          <a:p>
            <a:pPr indent="0" lvl="0" marL="0" marR="0" rtl="0" algn="l">
              <a:lnSpc>
                <a:spcPct val="146666"/>
              </a:lnSpc>
              <a:spcBef>
                <a:spcPts val="0"/>
              </a:spcBef>
              <a:spcAft>
                <a:spcPts val="0"/>
              </a:spcAft>
              <a:buClr>
                <a:srgbClr val="6E625E"/>
              </a:buClr>
              <a:buSzPts val="1500"/>
              <a:buFont typeface="Calibri"/>
              <a:buNone/>
            </a:pPr>
            <a:r>
              <a:rPr b="0" i="0" lang="en-US" sz="1500" u="none" cap="none" strike="noStrike">
                <a:solidFill>
                  <a:srgbClr val="6E625E"/>
                </a:solidFill>
                <a:latin typeface="Calibri"/>
                <a:ea typeface="Calibri"/>
                <a:cs typeface="Calibri"/>
                <a:sym typeface="Calibri"/>
              </a:rPr>
              <a:t>Children are in school. They are not learning to read. The fix is known, and too expensive to run at scale.</a:t>
            </a:r>
            <a:endParaRPr b="0" i="0" sz="1500" u="none" cap="none" strike="noStrike">
              <a:solidFill>
                <a:schemeClr val="dk1"/>
              </a:solidFill>
              <a:latin typeface="Calibri"/>
              <a:ea typeface="Calibri"/>
              <a:cs typeface="Calibri"/>
              <a:sym typeface="Calibri"/>
            </a:endParaRPr>
          </a:p>
        </p:txBody>
      </p:sp>
      <p:sp>
        <p:nvSpPr>
          <p:cNvPr id="35" name="Google Shape;35;p2"/>
          <p:cNvSpPr/>
          <p:nvPr/>
        </p:nvSpPr>
        <p:spPr>
          <a:xfrm>
            <a:off x="640080" y="2011680"/>
            <a:ext cx="3429000" cy="2148840"/>
          </a:xfrm>
          <a:prstGeom prst="roundRect">
            <a:avLst>
              <a:gd fmla="val 4255" name="adj"/>
            </a:avLst>
          </a:prstGeom>
          <a:solidFill>
            <a:srgbClr val="F0EFE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 name="Google Shape;36;p2"/>
          <p:cNvSpPr/>
          <p:nvPr/>
        </p:nvSpPr>
        <p:spPr>
          <a:xfrm>
            <a:off x="932688" y="2212848"/>
            <a:ext cx="2834640" cy="7772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B85042"/>
              </a:buClr>
              <a:buSzPts val="4600"/>
              <a:buFont typeface="Cambria"/>
              <a:buNone/>
            </a:pPr>
            <a:r>
              <a:rPr b="1" i="0" lang="en-US" sz="4600" u="none" cap="none" strike="noStrike">
                <a:solidFill>
                  <a:srgbClr val="B85042"/>
                </a:solidFill>
                <a:latin typeface="Cambria"/>
                <a:ea typeface="Cambria"/>
                <a:cs typeface="Cambria"/>
                <a:sym typeface="Cambria"/>
              </a:rPr>
              <a:t>50%+</a:t>
            </a:r>
            <a:endParaRPr b="0" i="0" sz="4600" u="none" cap="none" strike="noStrike">
              <a:solidFill>
                <a:schemeClr val="dk1"/>
              </a:solidFill>
              <a:latin typeface="Calibri"/>
              <a:ea typeface="Calibri"/>
              <a:cs typeface="Calibri"/>
              <a:sym typeface="Calibri"/>
            </a:endParaRPr>
          </a:p>
        </p:txBody>
      </p:sp>
      <p:sp>
        <p:nvSpPr>
          <p:cNvPr id="37" name="Google Shape;37;p2"/>
          <p:cNvSpPr/>
          <p:nvPr/>
        </p:nvSpPr>
        <p:spPr>
          <a:xfrm>
            <a:off x="932688" y="3054096"/>
            <a:ext cx="2834640" cy="960120"/>
          </a:xfrm>
          <a:prstGeom prst="rect">
            <a:avLst/>
          </a:prstGeom>
          <a:noFill/>
          <a:ln>
            <a:noFill/>
          </a:ln>
        </p:spPr>
        <p:txBody>
          <a:bodyPr anchorCtr="0" anchor="ctr" bIns="0" lIns="0" spcFirstLastPara="1" rIns="0" wrap="square" tIns="0">
            <a:noAutofit/>
          </a:bodyPr>
          <a:lstStyle/>
          <a:p>
            <a:pPr indent="0" lvl="0" marL="0" marR="0" rtl="0" algn="l">
              <a:lnSpc>
                <a:spcPct val="146153"/>
              </a:lnSpc>
              <a:spcBef>
                <a:spcPts val="0"/>
              </a:spcBef>
              <a:spcAft>
                <a:spcPts val="0"/>
              </a:spcAft>
              <a:buClr>
                <a:srgbClr val="2B2422"/>
              </a:buClr>
              <a:buSzPts val="1300"/>
              <a:buFont typeface="Calibri"/>
              <a:buNone/>
            </a:pPr>
            <a:r>
              <a:rPr b="0" i="0" lang="en-US" sz="1300" u="none" cap="none" strike="noStrike">
                <a:solidFill>
                  <a:srgbClr val="2B2422"/>
                </a:solidFill>
                <a:latin typeface="Calibri"/>
                <a:ea typeface="Calibri"/>
                <a:cs typeface="Calibri"/>
                <a:sym typeface="Calibri"/>
              </a:rPr>
              <a:t>of Grade 2 students in resource-limited countries cannot read a single word of a short text</a:t>
            </a:r>
            <a:endParaRPr b="0" i="0" sz="1300" u="none" cap="none" strike="noStrike">
              <a:solidFill>
                <a:schemeClr val="dk1"/>
              </a:solidFill>
              <a:latin typeface="Calibri"/>
              <a:ea typeface="Calibri"/>
              <a:cs typeface="Calibri"/>
              <a:sym typeface="Calibri"/>
            </a:endParaRPr>
          </a:p>
        </p:txBody>
      </p:sp>
      <p:sp>
        <p:nvSpPr>
          <p:cNvPr id="38" name="Google Shape;38;p2"/>
          <p:cNvSpPr/>
          <p:nvPr/>
        </p:nvSpPr>
        <p:spPr>
          <a:xfrm>
            <a:off x="4389120" y="2011680"/>
            <a:ext cx="3429000" cy="2148840"/>
          </a:xfrm>
          <a:prstGeom prst="roundRect">
            <a:avLst>
              <a:gd fmla="val 4255" name="adj"/>
            </a:avLst>
          </a:prstGeom>
          <a:solidFill>
            <a:srgbClr val="F0EFE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 name="Google Shape;39;p2"/>
          <p:cNvSpPr/>
          <p:nvPr/>
        </p:nvSpPr>
        <p:spPr>
          <a:xfrm>
            <a:off x="4681728" y="2212848"/>
            <a:ext cx="2834640" cy="7772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3B2320"/>
              </a:buClr>
              <a:buSzPts val="4600"/>
              <a:buFont typeface="Cambria"/>
              <a:buNone/>
            </a:pPr>
            <a:r>
              <a:rPr b="1" i="0" lang="en-US" sz="4600" u="none" cap="none" strike="noStrike">
                <a:solidFill>
                  <a:srgbClr val="3B2320"/>
                </a:solidFill>
                <a:latin typeface="Cambria"/>
                <a:ea typeface="Cambria"/>
                <a:cs typeface="Cambria"/>
                <a:sym typeface="Cambria"/>
              </a:rPr>
              <a:t>1-on-1</a:t>
            </a:r>
            <a:endParaRPr b="0" i="0" sz="4600" u="none" cap="none" strike="noStrike">
              <a:solidFill>
                <a:schemeClr val="dk1"/>
              </a:solidFill>
              <a:latin typeface="Calibri"/>
              <a:ea typeface="Calibri"/>
              <a:cs typeface="Calibri"/>
              <a:sym typeface="Calibri"/>
            </a:endParaRPr>
          </a:p>
        </p:txBody>
      </p:sp>
      <p:sp>
        <p:nvSpPr>
          <p:cNvPr id="40" name="Google Shape;40;p2"/>
          <p:cNvSpPr/>
          <p:nvPr/>
        </p:nvSpPr>
        <p:spPr>
          <a:xfrm>
            <a:off x="4681728" y="3054096"/>
            <a:ext cx="2834640" cy="960120"/>
          </a:xfrm>
          <a:prstGeom prst="rect">
            <a:avLst/>
          </a:prstGeom>
          <a:noFill/>
          <a:ln>
            <a:noFill/>
          </a:ln>
        </p:spPr>
        <p:txBody>
          <a:bodyPr anchorCtr="0" anchor="ctr" bIns="0" lIns="0" spcFirstLastPara="1" rIns="0" wrap="square" tIns="0">
            <a:noAutofit/>
          </a:bodyPr>
          <a:lstStyle/>
          <a:p>
            <a:pPr indent="0" lvl="0" marL="0" marR="0" rtl="0" algn="l">
              <a:lnSpc>
                <a:spcPct val="146153"/>
              </a:lnSpc>
              <a:spcBef>
                <a:spcPts val="0"/>
              </a:spcBef>
              <a:spcAft>
                <a:spcPts val="0"/>
              </a:spcAft>
              <a:buClr>
                <a:srgbClr val="2B2422"/>
              </a:buClr>
              <a:buSzPts val="1300"/>
              <a:buFont typeface="Calibri"/>
              <a:buNone/>
            </a:pPr>
            <a:r>
              <a:rPr b="0" i="0" lang="en-US" sz="1300" u="none" cap="none" strike="noStrike">
                <a:solidFill>
                  <a:srgbClr val="2B2422"/>
                </a:solidFill>
                <a:latin typeface="Calibri"/>
                <a:ea typeface="Calibri"/>
                <a:cs typeface="Calibri"/>
                <a:sym typeface="Calibri"/>
              </a:rPr>
              <a:t>how every child must be assessed to find their reading level, repeated every few weeks</a:t>
            </a:r>
            <a:endParaRPr b="0" i="0" sz="1300" u="none" cap="none" strike="noStrike">
              <a:solidFill>
                <a:schemeClr val="dk1"/>
              </a:solidFill>
              <a:latin typeface="Calibri"/>
              <a:ea typeface="Calibri"/>
              <a:cs typeface="Calibri"/>
              <a:sym typeface="Calibri"/>
            </a:endParaRPr>
          </a:p>
        </p:txBody>
      </p:sp>
      <p:sp>
        <p:nvSpPr>
          <p:cNvPr id="41" name="Google Shape;41;p2"/>
          <p:cNvSpPr/>
          <p:nvPr/>
        </p:nvSpPr>
        <p:spPr>
          <a:xfrm>
            <a:off x="8138160" y="2011680"/>
            <a:ext cx="3429000" cy="2148840"/>
          </a:xfrm>
          <a:prstGeom prst="roundRect">
            <a:avLst>
              <a:gd fmla="val 4255" name="adj"/>
            </a:avLst>
          </a:prstGeom>
          <a:solidFill>
            <a:srgbClr val="F0EFE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 name="Google Shape;42;p2"/>
          <p:cNvSpPr/>
          <p:nvPr/>
        </p:nvSpPr>
        <p:spPr>
          <a:xfrm>
            <a:off x="8430768" y="2212848"/>
            <a:ext cx="2834640" cy="7772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7E9C8C"/>
              </a:buClr>
              <a:buSzPts val="4600"/>
              <a:buFont typeface="Cambria"/>
              <a:buNone/>
            </a:pPr>
            <a:r>
              <a:rPr b="1" i="0" lang="en-US" sz="4600" u="none" cap="none" strike="noStrike">
                <a:solidFill>
                  <a:srgbClr val="7E9C8C"/>
                </a:solidFill>
                <a:latin typeface="Cambria"/>
                <a:ea typeface="Cambria"/>
                <a:cs typeface="Cambria"/>
                <a:sym typeface="Cambria"/>
              </a:rPr>
              <a:t>0</a:t>
            </a:r>
            <a:endParaRPr b="0" i="0" sz="4600" u="none" cap="none" strike="noStrike">
              <a:solidFill>
                <a:schemeClr val="dk1"/>
              </a:solidFill>
              <a:latin typeface="Calibri"/>
              <a:ea typeface="Calibri"/>
              <a:cs typeface="Calibri"/>
              <a:sym typeface="Calibri"/>
            </a:endParaRPr>
          </a:p>
        </p:txBody>
      </p:sp>
      <p:sp>
        <p:nvSpPr>
          <p:cNvPr id="43" name="Google Shape;43;p2"/>
          <p:cNvSpPr/>
          <p:nvPr/>
        </p:nvSpPr>
        <p:spPr>
          <a:xfrm>
            <a:off x="8430768" y="3054096"/>
            <a:ext cx="2834640" cy="960120"/>
          </a:xfrm>
          <a:prstGeom prst="rect">
            <a:avLst/>
          </a:prstGeom>
          <a:noFill/>
          <a:ln>
            <a:noFill/>
          </a:ln>
        </p:spPr>
        <p:txBody>
          <a:bodyPr anchorCtr="0" anchor="ctr" bIns="0" lIns="0" spcFirstLastPara="1" rIns="0" wrap="square" tIns="0">
            <a:noAutofit/>
          </a:bodyPr>
          <a:lstStyle/>
          <a:p>
            <a:pPr indent="0" lvl="0" marL="0" marR="0" rtl="0" algn="l">
              <a:lnSpc>
                <a:spcPct val="146153"/>
              </a:lnSpc>
              <a:spcBef>
                <a:spcPts val="0"/>
              </a:spcBef>
              <a:spcAft>
                <a:spcPts val="0"/>
              </a:spcAft>
              <a:buClr>
                <a:srgbClr val="2B2422"/>
              </a:buClr>
              <a:buSzPts val="1300"/>
              <a:buFont typeface="Calibri"/>
              <a:buNone/>
            </a:pPr>
            <a:r>
              <a:rPr b="0" i="0" lang="en-US" sz="1300" u="none" cap="none" strike="noStrike">
                <a:solidFill>
                  <a:srgbClr val="2B2422"/>
                </a:solidFill>
                <a:latin typeface="Calibri"/>
                <a:ea typeface="Calibri"/>
                <a:cs typeface="Calibri"/>
                <a:sym typeface="Calibri"/>
              </a:rPr>
              <a:t>of that assessment works if the child does not speak the language of instruction</a:t>
            </a:r>
            <a:endParaRPr b="0" i="0" sz="1300" u="none" cap="none" strike="noStrike">
              <a:solidFill>
                <a:schemeClr val="dk1"/>
              </a:solidFill>
              <a:latin typeface="Calibri"/>
              <a:ea typeface="Calibri"/>
              <a:cs typeface="Calibri"/>
              <a:sym typeface="Calibri"/>
            </a:endParaRPr>
          </a:p>
        </p:txBody>
      </p:sp>
      <p:sp>
        <p:nvSpPr>
          <p:cNvPr id="44" name="Google Shape;44;p2"/>
          <p:cNvSpPr/>
          <p:nvPr/>
        </p:nvSpPr>
        <p:spPr>
          <a:xfrm>
            <a:off x="640080" y="4498848"/>
            <a:ext cx="10835640" cy="1371600"/>
          </a:xfrm>
          <a:prstGeom prst="roundRect">
            <a:avLst>
              <a:gd fmla="val 6667" name="adj"/>
            </a:avLst>
          </a:prstGeom>
          <a:solidFill>
            <a:srgbClr val="3B232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 name="Google Shape;45;p2"/>
          <p:cNvSpPr/>
          <p:nvPr/>
        </p:nvSpPr>
        <p:spPr>
          <a:xfrm>
            <a:off x="987552" y="4956048"/>
            <a:ext cx="457200" cy="457200"/>
          </a:xfrm>
          <a:prstGeom prst="ellipse">
            <a:avLst/>
          </a:prstGeom>
          <a:solidFill>
            <a:srgbClr val="B8504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 name="Google Shape;46;p2"/>
          <p:cNvSpPr/>
          <p:nvPr/>
        </p:nvSpPr>
        <p:spPr>
          <a:xfrm>
            <a:off x="987552" y="4992624"/>
            <a:ext cx="457200" cy="38404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2200"/>
              <a:buFont typeface="Cambria"/>
              <a:buNone/>
            </a:pPr>
            <a:r>
              <a:rPr b="1" i="0" lang="en-US" sz="2200" u="none" cap="none" strike="noStrike">
                <a:solidFill>
                  <a:srgbClr val="FFFFFF"/>
                </a:solidFill>
                <a:latin typeface="Cambria"/>
                <a:ea typeface="Cambria"/>
                <a:cs typeface="Cambria"/>
                <a:sym typeface="Cambria"/>
              </a:rPr>
              <a:t>!</a:t>
            </a:r>
            <a:endParaRPr b="0" i="0" sz="2200" u="none" cap="none" strike="noStrike">
              <a:solidFill>
                <a:schemeClr val="dk1"/>
              </a:solidFill>
              <a:latin typeface="Calibri"/>
              <a:ea typeface="Calibri"/>
              <a:cs typeface="Calibri"/>
              <a:sym typeface="Calibri"/>
            </a:endParaRPr>
          </a:p>
        </p:txBody>
      </p:sp>
      <p:sp>
        <p:nvSpPr>
          <p:cNvPr id="47" name="Google Shape;47;p2"/>
          <p:cNvSpPr/>
          <p:nvPr/>
        </p:nvSpPr>
        <p:spPr>
          <a:xfrm>
            <a:off x="1627632" y="4736592"/>
            <a:ext cx="9509760" cy="914400"/>
          </a:xfrm>
          <a:prstGeom prst="rect">
            <a:avLst/>
          </a:prstGeom>
          <a:noFill/>
          <a:ln>
            <a:noFill/>
          </a:ln>
        </p:spPr>
        <p:txBody>
          <a:bodyPr anchorCtr="0" anchor="ctr" bIns="0" lIns="0" spcFirstLastPara="1" rIns="0" wrap="square" tIns="0">
            <a:noAutofit/>
          </a:bodyPr>
          <a:lstStyle/>
          <a:p>
            <a:pPr indent="0" lvl="0" marL="0" marR="0" rtl="0" algn="l">
              <a:lnSpc>
                <a:spcPct val="155555"/>
              </a:lnSpc>
              <a:spcBef>
                <a:spcPts val="0"/>
              </a:spcBef>
              <a:spcAft>
                <a:spcPts val="0"/>
              </a:spcAft>
              <a:buClr>
                <a:srgbClr val="FFFFFF"/>
              </a:buClr>
              <a:buSzPts val="1350"/>
              <a:buFont typeface="Calibri"/>
              <a:buNone/>
            </a:pPr>
            <a:r>
              <a:rPr b="1" i="0" lang="en-US" sz="1350" u="none" cap="none" strike="noStrike">
                <a:solidFill>
                  <a:srgbClr val="FFFFFF"/>
                </a:solidFill>
                <a:latin typeface="Calibri"/>
                <a:ea typeface="Calibri"/>
                <a:cs typeface="Calibri"/>
                <a:sym typeface="Calibri"/>
              </a:rPr>
              <a:t>Teaching at the Right Level works. </a:t>
            </a:r>
            <a:r>
              <a:rPr b="0" i="0" lang="en-US" sz="1350" u="none" cap="none" strike="noStrike">
                <a:solidFill>
                  <a:srgbClr val="F0EFE2"/>
                </a:solidFill>
                <a:latin typeface="Calibri"/>
                <a:ea typeface="Calibri"/>
                <a:cs typeface="Calibri"/>
                <a:sym typeface="Calibri"/>
              </a:rPr>
              <a:t>It groups children by measured level rather than age, and the evidence is strong. But the assessment is slow, needs trained staff, must be rebuilt for every local language, and has to be redone again and again. That labour is the cost.</a:t>
            </a:r>
            <a:endParaRPr b="0" i="0" sz="1350" u="none" cap="none" strike="noStrike">
              <a:solidFill>
                <a:schemeClr val="dk1"/>
              </a:solidFill>
              <a:latin typeface="Calibri"/>
              <a:ea typeface="Calibri"/>
              <a:cs typeface="Calibri"/>
              <a:sym typeface="Calibri"/>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52" name="Shape 52"/>
        <p:cNvGrpSpPr/>
        <p:nvPr/>
      </p:nvGrpSpPr>
      <p:grpSpPr>
        <a:xfrm>
          <a:off x="0" y="0"/>
          <a:ext cx="0" cy="0"/>
          <a:chOff x="0" y="0"/>
          <a:chExt cx="0" cy="0"/>
        </a:xfrm>
      </p:grpSpPr>
      <p:sp>
        <p:nvSpPr>
          <p:cNvPr id="53" name="Google Shape;53;p3"/>
          <p:cNvSpPr/>
          <p:nvPr/>
        </p:nvSpPr>
        <p:spPr>
          <a:xfrm>
            <a:off x="640080" y="502920"/>
            <a:ext cx="8229600" cy="6400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B2422"/>
              </a:buClr>
              <a:buSzPts val="4000"/>
              <a:buFont typeface="Cambria"/>
              <a:buNone/>
            </a:pPr>
            <a:r>
              <a:rPr b="1" i="0" lang="en-US" sz="4000" u="none" cap="none" strike="noStrike">
                <a:solidFill>
                  <a:srgbClr val="2B2422"/>
                </a:solidFill>
                <a:latin typeface="Cambria"/>
                <a:ea typeface="Cambria"/>
                <a:cs typeface="Cambria"/>
                <a:sym typeface="Cambria"/>
              </a:rPr>
              <a:t>Our solution: Ntina</a:t>
            </a:r>
            <a:endParaRPr b="0" i="0" sz="4000" u="none" cap="none" strike="noStrike">
              <a:solidFill>
                <a:schemeClr val="dk1"/>
              </a:solidFill>
              <a:latin typeface="Calibri"/>
              <a:ea typeface="Calibri"/>
              <a:cs typeface="Calibri"/>
              <a:sym typeface="Calibri"/>
            </a:endParaRPr>
          </a:p>
        </p:txBody>
      </p:sp>
      <p:sp>
        <p:nvSpPr>
          <p:cNvPr id="54" name="Google Shape;54;p3"/>
          <p:cNvSpPr/>
          <p:nvPr/>
        </p:nvSpPr>
        <p:spPr>
          <a:xfrm>
            <a:off x="658368" y="1207008"/>
            <a:ext cx="8412480" cy="548640"/>
          </a:xfrm>
          <a:prstGeom prst="rect">
            <a:avLst/>
          </a:prstGeom>
          <a:noFill/>
          <a:ln>
            <a:noFill/>
          </a:ln>
        </p:spPr>
        <p:txBody>
          <a:bodyPr anchorCtr="0" anchor="ctr" bIns="0" lIns="0" spcFirstLastPara="1" rIns="0" wrap="square" tIns="0">
            <a:noAutofit/>
          </a:bodyPr>
          <a:lstStyle/>
          <a:p>
            <a:pPr indent="0" lvl="0" marL="0" marR="0" rtl="0" algn="l">
              <a:lnSpc>
                <a:spcPct val="146666"/>
              </a:lnSpc>
              <a:spcBef>
                <a:spcPts val="0"/>
              </a:spcBef>
              <a:spcAft>
                <a:spcPts val="0"/>
              </a:spcAft>
              <a:buClr>
                <a:srgbClr val="6E625E"/>
              </a:buClr>
              <a:buSzPts val="1500"/>
              <a:buFont typeface="Calibri"/>
              <a:buNone/>
            </a:pPr>
            <a:r>
              <a:rPr b="0" i="0" lang="en-US" sz="1500" u="none" cap="none" strike="noStrike">
                <a:solidFill>
                  <a:srgbClr val="6E625E"/>
                </a:solidFill>
                <a:latin typeface="Calibri"/>
                <a:ea typeface="Calibri"/>
                <a:cs typeface="Calibri"/>
                <a:sym typeface="Calibri"/>
              </a:rPr>
              <a:t>A voice agent that takes over the assessment and drilling, in the child's own language, offline, on a cheap phone. The teacher is freed to teach.</a:t>
            </a:r>
            <a:endParaRPr b="0" i="0" sz="1500" u="none" cap="none" strike="noStrike">
              <a:solidFill>
                <a:schemeClr val="dk1"/>
              </a:solidFill>
              <a:latin typeface="Calibri"/>
              <a:ea typeface="Calibri"/>
              <a:cs typeface="Calibri"/>
              <a:sym typeface="Calibri"/>
            </a:endParaRPr>
          </a:p>
        </p:txBody>
      </p:sp>
      <p:sp>
        <p:nvSpPr>
          <p:cNvPr id="55" name="Google Shape;55;p3"/>
          <p:cNvSpPr/>
          <p:nvPr/>
        </p:nvSpPr>
        <p:spPr>
          <a:xfrm>
            <a:off x="640080" y="1965960"/>
            <a:ext cx="2029968" cy="2514600"/>
          </a:xfrm>
          <a:prstGeom prst="roundRect">
            <a:avLst>
              <a:gd fmla="val 4505" name="adj"/>
            </a:avLst>
          </a:prstGeom>
          <a:solidFill>
            <a:srgbClr val="F0EFE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 name="Google Shape;56;p3"/>
          <p:cNvSpPr/>
          <p:nvPr/>
        </p:nvSpPr>
        <p:spPr>
          <a:xfrm>
            <a:off x="896112" y="2194560"/>
            <a:ext cx="475488" cy="475488"/>
          </a:xfrm>
          <a:prstGeom prst="ellipse">
            <a:avLst/>
          </a:prstGeom>
          <a:solidFill>
            <a:srgbClr val="B8504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 name="Google Shape;57;p3"/>
          <p:cNvSpPr/>
          <p:nvPr/>
        </p:nvSpPr>
        <p:spPr>
          <a:xfrm>
            <a:off x="896112" y="2249424"/>
            <a:ext cx="475488" cy="36576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200"/>
              <a:buFont typeface="Calibri"/>
              <a:buNone/>
            </a:pPr>
            <a:r>
              <a:rPr b="1" i="0" lang="en-US" sz="1200" u="none" cap="none" strike="noStrike">
                <a:solidFill>
                  <a:srgbClr val="FFFFFF"/>
                </a:solidFill>
                <a:latin typeface="Calibri"/>
                <a:ea typeface="Calibri"/>
                <a:cs typeface="Calibri"/>
                <a:sym typeface="Calibri"/>
              </a:rPr>
              <a:t>01</a:t>
            </a:r>
            <a:endParaRPr b="0" i="0" sz="1200" u="none" cap="none" strike="noStrike">
              <a:solidFill>
                <a:schemeClr val="dk1"/>
              </a:solidFill>
              <a:latin typeface="Calibri"/>
              <a:ea typeface="Calibri"/>
              <a:cs typeface="Calibri"/>
              <a:sym typeface="Calibri"/>
            </a:endParaRPr>
          </a:p>
        </p:txBody>
      </p:sp>
      <p:sp>
        <p:nvSpPr>
          <p:cNvPr id="58" name="Google Shape;58;p3"/>
          <p:cNvSpPr/>
          <p:nvPr/>
        </p:nvSpPr>
        <p:spPr>
          <a:xfrm>
            <a:off x="896112" y="2788920"/>
            <a:ext cx="1645920" cy="3200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B2422"/>
              </a:buClr>
              <a:buSzPts val="1900"/>
              <a:buFont typeface="Cambria"/>
              <a:buNone/>
            </a:pPr>
            <a:r>
              <a:rPr b="1" i="0" lang="en-US" sz="1900" u="none" cap="none" strike="noStrike">
                <a:solidFill>
                  <a:srgbClr val="2B2422"/>
                </a:solidFill>
                <a:latin typeface="Cambria"/>
                <a:ea typeface="Cambria"/>
                <a:cs typeface="Cambria"/>
                <a:sym typeface="Cambria"/>
              </a:rPr>
              <a:t>Listen</a:t>
            </a:r>
            <a:endParaRPr b="0" i="0" sz="1900" u="none" cap="none" strike="noStrike">
              <a:solidFill>
                <a:schemeClr val="dk1"/>
              </a:solidFill>
              <a:latin typeface="Calibri"/>
              <a:ea typeface="Calibri"/>
              <a:cs typeface="Calibri"/>
              <a:sym typeface="Calibri"/>
            </a:endParaRPr>
          </a:p>
        </p:txBody>
      </p:sp>
      <p:sp>
        <p:nvSpPr>
          <p:cNvPr id="59" name="Google Shape;59;p3"/>
          <p:cNvSpPr/>
          <p:nvPr/>
        </p:nvSpPr>
        <p:spPr>
          <a:xfrm>
            <a:off x="896112" y="3182112"/>
            <a:ext cx="1572768" cy="1143000"/>
          </a:xfrm>
          <a:prstGeom prst="rect">
            <a:avLst/>
          </a:prstGeom>
          <a:noFill/>
          <a:ln>
            <a:noFill/>
          </a:ln>
        </p:spPr>
        <p:txBody>
          <a:bodyPr anchorCtr="0" anchor="ctr" bIns="0" lIns="0" spcFirstLastPara="1" rIns="0" wrap="square" tIns="0">
            <a:noAutofit/>
          </a:bodyPr>
          <a:lstStyle/>
          <a:p>
            <a:pPr indent="0" lvl="0" marL="0" marR="0" rtl="0" algn="l">
              <a:lnSpc>
                <a:spcPct val="145454"/>
              </a:lnSpc>
              <a:spcBef>
                <a:spcPts val="0"/>
              </a:spcBef>
              <a:spcAft>
                <a:spcPts val="0"/>
              </a:spcAft>
              <a:buClr>
                <a:srgbClr val="6E625E"/>
              </a:buClr>
              <a:buSzPts val="1100"/>
              <a:buFont typeface="Calibri"/>
              <a:buNone/>
            </a:pPr>
            <a:r>
              <a:rPr b="0" i="0" lang="en-US" sz="1100" u="none" cap="none" strike="noStrike">
                <a:solidFill>
                  <a:srgbClr val="6E625E"/>
                </a:solidFill>
                <a:latin typeface="Calibri"/>
                <a:ea typeface="Calibri"/>
                <a:cs typeface="Calibri"/>
                <a:sym typeface="Calibri"/>
              </a:rPr>
              <a:t>The child reads aloud. We already know the target text, so this is verification, not open transcription.</a:t>
            </a:r>
            <a:endParaRPr b="0" i="0" sz="1100" u="none" cap="none" strike="noStrike">
              <a:solidFill>
                <a:schemeClr val="dk1"/>
              </a:solidFill>
              <a:latin typeface="Calibri"/>
              <a:ea typeface="Calibri"/>
              <a:cs typeface="Calibri"/>
              <a:sym typeface="Calibri"/>
            </a:endParaRPr>
          </a:p>
        </p:txBody>
      </p:sp>
      <p:sp>
        <p:nvSpPr>
          <p:cNvPr id="60" name="Google Shape;60;p3"/>
          <p:cNvSpPr/>
          <p:nvPr/>
        </p:nvSpPr>
        <p:spPr>
          <a:xfrm>
            <a:off x="2871216" y="1965960"/>
            <a:ext cx="2029968" cy="2514600"/>
          </a:xfrm>
          <a:prstGeom prst="roundRect">
            <a:avLst>
              <a:gd fmla="val 4505" name="adj"/>
            </a:avLst>
          </a:prstGeom>
          <a:solidFill>
            <a:srgbClr val="F0EFE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 name="Google Shape;61;p3"/>
          <p:cNvSpPr/>
          <p:nvPr/>
        </p:nvSpPr>
        <p:spPr>
          <a:xfrm>
            <a:off x="3127248" y="2194560"/>
            <a:ext cx="475488" cy="475488"/>
          </a:xfrm>
          <a:prstGeom prst="ellipse">
            <a:avLst/>
          </a:prstGeom>
          <a:solidFill>
            <a:srgbClr val="B8504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 name="Google Shape;62;p3"/>
          <p:cNvSpPr/>
          <p:nvPr/>
        </p:nvSpPr>
        <p:spPr>
          <a:xfrm>
            <a:off x="3127248" y="2249424"/>
            <a:ext cx="475488" cy="36576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200"/>
              <a:buFont typeface="Calibri"/>
              <a:buNone/>
            </a:pPr>
            <a:r>
              <a:rPr b="1" i="0" lang="en-US" sz="1200" u="none" cap="none" strike="noStrike">
                <a:solidFill>
                  <a:srgbClr val="FFFFFF"/>
                </a:solidFill>
                <a:latin typeface="Calibri"/>
                <a:ea typeface="Calibri"/>
                <a:cs typeface="Calibri"/>
                <a:sym typeface="Calibri"/>
              </a:rPr>
              <a:t>02</a:t>
            </a:r>
            <a:endParaRPr b="0" i="0" sz="1200" u="none" cap="none" strike="noStrike">
              <a:solidFill>
                <a:schemeClr val="dk1"/>
              </a:solidFill>
              <a:latin typeface="Calibri"/>
              <a:ea typeface="Calibri"/>
              <a:cs typeface="Calibri"/>
              <a:sym typeface="Calibri"/>
            </a:endParaRPr>
          </a:p>
        </p:txBody>
      </p:sp>
      <p:sp>
        <p:nvSpPr>
          <p:cNvPr id="63" name="Google Shape;63;p3"/>
          <p:cNvSpPr/>
          <p:nvPr/>
        </p:nvSpPr>
        <p:spPr>
          <a:xfrm>
            <a:off x="3127248" y="2788920"/>
            <a:ext cx="1645920" cy="3200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B2422"/>
              </a:buClr>
              <a:buSzPts val="1900"/>
              <a:buFont typeface="Cambria"/>
              <a:buNone/>
            </a:pPr>
            <a:r>
              <a:rPr b="1" i="0" lang="en-US" sz="1900" u="none" cap="none" strike="noStrike">
                <a:solidFill>
                  <a:srgbClr val="2B2422"/>
                </a:solidFill>
                <a:latin typeface="Cambria"/>
                <a:ea typeface="Cambria"/>
                <a:cs typeface="Cambria"/>
                <a:sym typeface="Cambria"/>
              </a:rPr>
              <a:t>Assess</a:t>
            </a:r>
            <a:endParaRPr b="0" i="0" sz="1900" u="none" cap="none" strike="noStrike">
              <a:solidFill>
                <a:schemeClr val="dk1"/>
              </a:solidFill>
              <a:latin typeface="Calibri"/>
              <a:ea typeface="Calibri"/>
              <a:cs typeface="Calibri"/>
              <a:sym typeface="Calibri"/>
            </a:endParaRPr>
          </a:p>
        </p:txBody>
      </p:sp>
      <p:sp>
        <p:nvSpPr>
          <p:cNvPr id="64" name="Google Shape;64;p3"/>
          <p:cNvSpPr/>
          <p:nvPr/>
        </p:nvSpPr>
        <p:spPr>
          <a:xfrm>
            <a:off x="3127248" y="3182112"/>
            <a:ext cx="1572768" cy="1143000"/>
          </a:xfrm>
          <a:prstGeom prst="rect">
            <a:avLst/>
          </a:prstGeom>
          <a:noFill/>
          <a:ln>
            <a:noFill/>
          </a:ln>
        </p:spPr>
        <p:txBody>
          <a:bodyPr anchorCtr="0" anchor="ctr" bIns="0" lIns="0" spcFirstLastPara="1" rIns="0" wrap="square" tIns="0">
            <a:noAutofit/>
          </a:bodyPr>
          <a:lstStyle/>
          <a:p>
            <a:pPr indent="0" lvl="0" marL="0" marR="0" rtl="0" algn="l">
              <a:lnSpc>
                <a:spcPct val="145454"/>
              </a:lnSpc>
              <a:spcBef>
                <a:spcPts val="0"/>
              </a:spcBef>
              <a:spcAft>
                <a:spcPts val="0"/>
              </a:spcAft>
              <a:buClr>
                <a:srgbClr val="6E625E"/>
              </a:buClr>
              <a:buSzPts val="1100"/>
              <a:buFont typeface="Calibri"/>
              <a:buNone/>
            </a:pPr>
            <a:r>
              <a:rPr b="0" i="0" lang="en-US" sz="1100" u="none" cap="none" strike="noStrike">
                <a:solidFill>
                  <a:srgbClr val="6E625E"/>
                </a:solidFill>
                <a:latin typeface="Calibri"/>
                <a:ea typeface="Calibri"/>
                <a:cs typeface="Calibri"/>
                <a:sym typeface="Calibri"/>
              </a:rPr>
              <a:t>Score against the five TaRL levels: beginner, letter, word, paragraph, story.</a:t>
            </a:r>
            <a:endParaRPr b="0" i="0" sz="1100" u="none" cap="none" strike="noStrike">
              <a:solidFill>
                <a:schemeClr val="dk1"/>
              </a:solidFill>
              <a:latin typeface="Calibri"/>
              <a:ea typeface="Calibri"/>
              <a:cs typeface="Calibri"/>
              <a:sym typeface="Calibri"/>
            </a:endParaRPr>
          </a:p>
        </p:txBody>
      </p:sp>
      <p:sp>
        <p:nvSpPr>
          <p:cNvPr id="65" name="Google Shape;65;p3"/>
          <p:cNvSpPr/>
          <p:nvPr/>
        </p:nvSpPr>
        <p:spPr>
          <a:xfrm>
            <a:off x="5102352" y="1965960"/>
            <a:ext cx="2029968" cy="2514600"/>
          </a:xfrm>
          <a:prstGeom prst="roundRect">
            <a:avLst>
              <a:gd fmla="val 4505" name="adj"/>
            </a:avLst>
          </a:prstGeom>
          <a:solidFill>
            <a:srgbClr val="F0EFE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 name="Google Shape;66;p3"/>
          <p:cNvSpPr/>
          <p:nvPr/>
        </p:nvSpPr>
        <p:spPr>
          <a:xfrm>
            <a:off x="5358384" y="2194560"/>
            <a:ext cx="475488" cy="475488"/>
          </a:xfrm>
          <a:prstGeom prst="ellipse">
            <a:avLst/>
          </a:prstGeom>
          <a:solidFill>
            <a:srgbClr val="B8504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 name="Google Shape;67;p3"/>
          <p:cNvSpPr/>
          <p:nvPr/>
        </p:nvSpPr>
        <p:spPr>
          <a:xfrm>
            <a:off x="5358384" y="2249424"/>
            <a:ext cx="475488" cy="36576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200"/>
              <a:buFont typeface="Calibri"/>
              <a:buNone/>
            </a:pPr>
            <a:r>
              <a:rPr b="1" i="0" lang="en-US" sz="1200" u="none" cap="none" strike="noStrike">
                <a:solidFill>
                  <a:srgbClr val="FFFFFF"/>
                </a:solidFill>
                <a:latin typeface="Calibri"/>
                <a:ea typeface="Calibri"/>
                <a:cs typeface="Calibri"/>
                <a:sym typeface="Calibri"/>
              </a:rPr>
              <a:t>03</a:t>
            </a:r>
            <a:endParaRPr b="0" i="0" sz="1200" u="none" cap="none" strike="noStrike">
              <a:solidFill>
                <a:schemeClr val="dk1"/>
              </a:solidFill>
              <a:latin typeface="Calibri"/>
              <a:ea typeface="Calibri"/>
              <a:cs typeface="Calibri"/>
              <a:sym typeface="Calibri"/>
            </a:endParaRPr>
          </a:p>
        </p:txBody>
      </p:sp>
      <p:sp>
        <p:nvSpPr>
          <p:cNvPr id="68" name="Google Shape;68;p3"/>
          <p:cNvSpPr/>
          <p:nvPr/>
        </p:nvSpPr>
        <p:spPr>
          <a:xfrm>
            <a:off x="5358384" y="2788920"/>
            <a:ext cx="1645920" cy="3200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B2422"/>
              </a:buClr>
              <a:buSzPts val="1900"/>
              <a:buFont typeface="Cambria"/>
              <a:buNone/>
            </a:pPr>
            <a:r>
              <a:rPr b="1" i="0" lang="en-US" sz="1900" u="none" cap="none" strike="noStrike">
                <a:solidFill>
                  <a:srgbClr val="2B2422"/>
                </a:solidFill>
                <a:latin typeface="Cambria"/>
                <a:ea typeface="Cambria"/>
                <a:cs typeface="Cambria"/>
                <a:sym typeface="Cambria"/>
              </a:rPr>
              <a:t>Group</a:t>
            </a:r>
            <a:endParaRPr b="0" i="0" sz="1900" u="none" cap="none" strike="noStrike">
              <a:solidFill>
                <a:schemeClr val="dk1"/>
              </a:solidFill>
              <a:latin typeface="Calibri"/>
              <a:ea typeface="Calibri"/>
              <a:cs typeface="Calibri"/>
              <a:sym typeface="Calibri"/>
            </a:endParaRPr>
          </a:p>
        </p:txBody>
      </p:sp>
      <p:sp>
        <p:nvSpPr>
          <p:cNvPr id="69" name="Google Shape;69;p3"/>
          <p:cNvSpPr/>
          <p:nvPr/>
        </p:nvSpPr>
        <p:spPr>
          <a:xfrm>
            <a:off x="5358384" y="3182112"/>
            <a:ext cx="1572768" cy="1143000"/>
          </a:xfrm>
          <a:prstGeom prst="rect">
            <a:avLst/>
          </a:prstGeom>
          <a:noFill/>
          <a:ln>
            <a:noFill/>
          </a:ln>
        </p:spPr>
        <p:txBody>
          <a:bodyPr anchorCtr="0" anchor="ctr" bIns="0" lIns="0" spcFirstLastPara="1" rIns="0" wrap="square" tIns="0">
            <a:noAutofit/>
          </a:bodyPr>
          <a:lstStyle/>
          <a:p>
            <a:pPr indent="0" lvl="0" marL="0" marR="0" rtl="0" algn="l">
              <a:lnSpc>
                <a:spcPct val="145454"/>
              </a:lnSpc>
              <a:spcBef>
                <a:spcPts val="0"/>
              </a:spcBef>
              <a:spcAft>
                <a:spcPts val="0"/>
              </a:spcAft>
              <a:buClr>
                <a:srgbClr val="6E625E"/>
              </a:buClr>
              <a:buSzPts val="1100"/>
              <a:buFont typeface="Calibri"/>
              <a:buNone/>
            </a:pPr>
            <a:r>
              <a:rPr b="0" i="0" lang="en-US" sz="1100" u="none" cap="none" strike="noStrike">
                <a:solidFill>
                  <a:srgbClr val="6E625E"/>
                </a:solidFill>
                <a:latin typeface="Calibri"/>
                <a:ea typeface="Calibri"/>
                <a:cs typeface="Calibri"/>
                <a:sym typeface="Calibri"/>
              </a:rPr>
              <a:t>Assign a learning level. The human facilitator confirms it before it takes effect.</a:t>
            </a:r>
            <a:endParaRPr b="0" i="0" sz="1100" u="none" cap="none" strike="noStrike">
              <a:solidFill>
                <a:schemeClr val="dk1"/>
              </a:solidFill>
              <a:latin typeface="Calibri"/>
              <a:ea typeface="Calibri"/>
              <a:cs typeface="Calibri"/>
              <a:sym typeface="Calibri"/>
            </a:endParaRPr>
          </a:p>
        </p:txBody>
      </p:sp>
      <p:sp>
        <p:nvSpPr>
          <p:cNvPr id="70" name="Google Shape;70;p3"/>
          <p:cNvSpPr/>
          <p:nvPr/>
        </p:nvSpPr>
        <p:spPr>
          <a:xfrm>
            <a:off x="7333488" y="1965960"/>
            <a:ext cx="2029968" cy="2514600"/>
          </a:xfrm>
          <a:prstGeom prst="roundRect">
            <a:avLst>
              <a:gd fmla="val 4505" name="adj"/>
            </a:avLst>
          </a:prstGeom>
          <a:solidFill>
            <a:srgbClr val="F0EFE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1" name="Google Shape;71;p3"/>
          <p:cNvSpPr/>
          <p:nvPr/>
        </p:nvSpPr>
        <p:spPr>
          <a:xfrm>
            <a:off x="7589520" y="2194560"/>
            <a:ext cx="475488" cy="475488"/>
          </a:xfrm>
          <a:prstGeom prst="ellipse">
            <a:avLst/>
          </a:prstGeom>
          <a:solidFill>
            <a:srgbClr val="7E9C8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2" name="Google Shape;72;p3"/>
          <p:cNvSpPr/>
          <p:nvPr/>
        </p:nvSpPr>
        <p:spPr>
          <a:xfrm>
            <a:off x="7589520" y="2249424"/>
            <a:ext cx="475488" cy="36576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200"/>
              <a:buFont typeface="Calibri"/>
              <a:buNone/>
            </a:pPr>
            <a:r>
              <a:rPr b="1" i="0" lang="en-US" sz="1200" u="none" cap="none" strike="noStrike">
                <a:solidFill>
                  <a:srgbClr val="FFFFFF"/>
                </a:solidFill>
                <a:latin typeface="Calibri"/>
                <a:ea typeface="Calibri"/>
                <a:cs typeface="Calibri"/>
                <a:sym typeface="Calibri"/>
              </a:rPr>
              <a:t>04</a:t>
            </a:r>
            <a:endParaRPr b="0" i="0" sz="1200" u="none" cap="none" strike="noStrike">
              <a:solidFill>
                <a:schemeClr val="dk1"/>
              </a:solidFill>
              <a:latin typeface="Calibri"/>
              <a:ea typeface="Calibri"/>
              <a:cs typeface="Calibri"/>
              <a:sym typeface="Calibri"/>
            </a:endParaRPr>
          </a:p>
        </p:txBody>
      </p:sp>
      <p:sp>
        <p:nvSpPr>
          <p:cNvPr id="73" name="Google Shape;73;p3"/>
          <p:cNvSpPr/>
          <p:nvPr/>
        </p:nvSpPr>
        <p:spPr>
          <a:xfrm>
            <a:off x="7589520" y="2788920"/>
            <a:ext cx="1645920" cy="3200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B2422"/>
              </a:buClr>
              <a:buSzPts val="1900"/>
              <a:buFont typeface="Cambria"/>
              <a:buNone/>
            </a:pPr>
            <a:r>
              <a:rPr b="1" i="0" lang="en-US" sz="1900" u="none" cap="none" strike="noStrike">
                <a:solidFill>
                  <a:srgbClr val="2B2422"/>
                </a:solidFill>
                <a:latin typeface="Cambria"/>
                <a:ea typeface="Cambria"/>
                <a:cs typeface="Cambria"/>
                <a:sym typeface="Cambria"/>
              </a:rPr>
              <a:t>Drill</a:t>
            </a:r>
            <a:endParaRPr b="0" i="0" sz="1900" u="none" cap="none" strike="noStrike">
              <a:solidFill>
                <a:schemeClr val="dk1"/>
              </a:solidFill>
              <a:latin typeface="Calibri"/>
              <a:ea typeface="Calibri"/>
              <a:cs typeface="Calibri"/>
              <a:sym typeface="Calibri"/>
            </a:endParaRPr>
          </a:p>
        </p:txBody>
      </p:sp>
      <p:sp>
        <p:nvSpPr>
          <p:cNvPr id="74" name="Google Shape;74;p3"/>
          <p:cNvSpPr/>
          <p:nvPr/>
        </p:nvSpPr>
        <p:spPr>
          <a:xfrm>
            <a:off x="7589520" y="3182112"/>
            <a:ext cx="1572768" cy="1143000"/>
          </a:xfrm>
          <a:prstGeom prst="rect">
            <a:avLst/>
          </a:prstGeom>
          <a:noFill/>
          <a:ln>
            <a:noFill/>
          </a:ln>
        </p:spPr>
        <p:txBody>
          <a:bodyPr anchorCtr="0" anchor="ctr" bIns="0" lIns="0" spcFirstLastPara="1" rIns="0" wrap="square" tIns="0">
            <a:noAutofit/>
          </a:bodyPr>
          <a:lstStyle/>
          <a:p>
            <a:pPr indent="0" lvl="0" marL="0" marR="0" rtl="0" algn="l">
              <a:lnSpc>
                <a:spcPct val="145454"/>
              </a:lnSpc>
              <a:spcBef>
                <a:spcPts val="0"/>
              </a:spcBef>
              <a:spcAft>
                <a:spcPts val="0"/>
              </a:spcAft>
              <a:buClr>
                <a:srgbClr val="6E625E"/>
              </a:buClr>
              <a:buSzPts val="1100"/>
              <a:buFont typeface="Calibri"/>
              <a:buNone/>
            </a:pPr>
            <a:r>
              <a:rPr b="0" i="0" lang="en-US" sz="1100" u="none" cap="none" strike="noStrike">
                <a:solidFill>
                  <a:srgbClr val="6E625E"/>
                </a:solidFill>
                <a:latin typeface="Calibri"/>
                <a:ea typeface="Calibri"/>
                <a:cs typeface="Calibri"/>
                <a:sym typeface="Calibri"/>
              </a:rPr>
              <a:t>Run level-appropriate practice while the facilitator works with another group.</a:t>
            </a:r>
            <a:endParaRPr b="0" i="0" sz="1100" u="none" cap="none" strike="noStrike">
              <a:solidFill>
                <a:schemeClr val="dk1"/>
              </a:solidFill>
              <a:latin typeface="Calibri"/>
              <a:ea typeface="Calibri"/>
              <a:cs typeface="Calibri"/>
              <a:sym typeface="Calibri"/>
            </a:endParaRPr>
          </a:p>
        </p:txBody>
      </p:sp>
      <p:sp>
        <p:nvSpPr>
          <p:cNvPr id="75" name="Google Shape;75;p3"/>
          <p:cNvSpPr/>
          <p:nvPr/>
        </p:nvSpPr>
        <p:spPr>
          <a:xfrm>
            <a:off x="9564624" y="1965960"/>
            <a:ext cx="2029968" cy="2514600"/>
          </a:xfrm>
          <a:prstGeom prst="roundRect">
            <a:avLst>
              <a:gd fmla="val 4505" name="adj"/>
            </a:avLst>
          </a:prstGeom>
          <a:solidFill>
            <a:srgbClr val="F0EFE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6" name="Google Shape;76;p3"/>
          <p:cNvSpPr/>
          <p:nvPr/>
        </p:nvSpPr>
        <p:spPr>
          <a:xfrm>
            <a:off x="9820656" y="2194560"/>
            <a:ext cx="475488" cy="475488"/>
          </a:xfrm>
          <a:prstGeom prst="ellipse">
            <a:avLst/>
          </a:prstGeom>
          <a:solidFill>
            <a:srgbClr val="7E9C8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7" name="Google Shape;77;p3"/>
          <p:cNvSpPr/>
          <p:nvPr/>
        </p:nvSpPr>
        <p:spPr>
          <a:xfrm>
            <a:off x="9820656" y="2249424"/>
            <a:ext cx="475488" cy="36576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200"/>
              <a:buFont typeface="Calibri"/>
              <a:buNone/>
            </a:pPr>
            <a:r>
              <a:rPr b="1" i="0" lang="en-US" sz="1200" u="none" cap="none" strike="noStrike">
                <a:solidFill>
                  <a:srgbClr val="FFFFFF"/>
                </a:solidFill>
                <a:latin typeface="Calibri"/>
                <a:ea typeface="Calibri"/>
                <a:cs typeface="Calibri"/>
                <a:sym typeface="Calibri"/>
              </a:rPr>
              <a:t>05</a:t>
            </a:r>
            <a:endParaRPr b="0" i="0" sz="1200" u="none" cap="none" strike="noStrike">
              <a:solidFill>
                <a:schemeClr val="dk1"/>
              </a:solidFill>
              <a:latin typeface="Calibri"/>
              <a:ea typeface="Calibri"/>
              <a:cs typeface="Calibri"/>
              <a:sym typeface="Calibri"/>
            </a:endParaRPr>
          </a:p>
        </p:txBody>
      </p:sp>
      <p:sp>
        <p:nvSpPr>
          <p:cNvPr id="78" name="Google Shape;78;p3"/>
          <p:cNvSpPr/>
          <p:nvPr/>
        </p:nvSpPr>
        <p:spPr>
          <a:xfrm>
            <a:off x="9820656" y="2788920"/>
            <a:ext cx="1645920" cy="3200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B2422"/>
              </a:buClr>
              <a:buSzPts val="1900"/>
              <a:buFont typeface="Cambria"/>
              <a:buNone/>
            </a:pPr>
            <a:r>
              <a:rPr b="1" i="0" lang="en-US" sz="1900" u="none" cap="none" strike="noStrike">
                <a:solidFill>
                  <a:srgbClr val="2B2422"/>
                </a:solidFill>
                <a:latin typeface="Cambria"/>
                <a:ea typeface="Cambria"/>
                <a:cs typeface="Cambria"/>
                <a:sym typeface="Cambria"/>
              </a:rPr>
              <a:t>Report</a:t>
            </a:r>
            <a:endParaRPr b="0" i="0" sz="1900" u="none" cap="none" strike="noStrike">
              <a:solidFill>
                <a:schemeClr val="dk1"/>
              </a:solidFill>
              <a:latin typeface="Calibri"/>
              <a:ea typeface="Calibri"/>
              <a:cs typeface="Calibri"/>
              <a:sym typeface="Calibri"/>
            </a:endParaRPr>
          </a:p>
        </p:txBody>
      </p:sp>
      <p:sp>
        <p:nvSpPr>
          <p:cNvPr id="79" name="Google Shape;79;p3"/>
          <p:cNvSpPr/>
          <p:nvPr/>
        </p:nvSpPr>
        <p:spPr>
          <a:xfrm>
            <a:off x="9820656" y="3182112"/>
            <a:ext cx="1572768" cy="1143000"/>
          </a:xfrm>
          <a:prstGeom prst="rect">
            <a:avLst/>
          </a:prstGeom>
          <a:noFill/>
          <a:ln>
            <a:noFill/>
          </a:ln>
        </p:spPr>
        <p:txBody>
          <a:bodyPr anchorCtr="0" anchor="ctr" bIns="0" lIns="0" spcFirstLastPara="1" rIns="0" wrap="square" tIns="0">
            <a:noAutofit/>
          </a:bodyPr>
          <a:lstStyle/>
          <a:p>
            <a:pPr indent="0" lvl="0" marL="0" marR="0" rtl="0" algn="l">
              <a:lnSpc>
                <a:spcPct val="145454"/>
              </a:lnSpc>
              <a:spcBef>
                <a:spcPts val="0"/>
              </a:spcBef>
              <a:spcAft>
                <a:spcPts val="0"/>
              </a:spcAft>
              <a:buClr>
                <a:srgbClr val="6E625E"/>
              </a:buClr>
              <a:buSzPts val="1100"/>
              <a:buFont typeface="Calibri"/>
              <a:buNone/>
            </a:pPr>
            <a:r>
              <a:rPr b="0" i="0" lang="en-US" sz="1100" u="none" cap="none" strike="noStrike">
                <a:solidFill>
                  <a:srgbClr val="6E625E"/>
                </a:solidFill>
                <a:latin typeface="Calibri"/>
                <a:ea typeface="Calibri"/>
                <a:cs typeface="Calibri"/>
                <a:sym typeface="Calibri"/>
              </a:rPr>
              <a:t>Emit the monitoring record automatically. Sync when there is signal.</a:t>
            </a:r>
            <a:endParaRPr b="0" i="0" sz="1100" u="none" cap="none" strike="noStrike">
              <a:solidFill>
                <a:schemeClr val="dk1"/>
              </a:solidFill>
              <a:latin typeface="Calibri"/>
              <a:ea typeface="Calibri"/>
              <a:cs typeface="Calibri"/>
              <a:sym typeface="Calibri"/>
            </a:endParaRPr>
          </a:p>
        </p:txBody>
      </p:sp>
      <p:sp>
        <p:nvSpPr>
          <p:cNvPr id="80" name="Google Shape;80;p3"/>
          <p:cNvSpPr/>
          <p:nvPr/>
        </p:nvSpPr>
        <p:spPr>
          <a:xfrm>
            <a:off x="640080" y="4864608"/>
            <a:ext cx="274320" cy="274320"/>
          </a:xfrm>
          <a:prstGeom prst="ellipse">
            <a:avLst/>
          </a:prstGeom>
          <a:solidFill>
            <a:srgbClr val="3B232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1" name="Google Shape;81;p3"/>
          <p:cNvSpPr/>
          <p:nvPr/>
        </p:nvSpPr>
        <p:spPr>
          <a:xfrm>
            <a:off x="1078992" y="4828032"/>
            <a:ext cx="4754880" cy="29260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B2422"/>
              </a:buClr>
              <a:buSzPts val="1400"/>
              <a:buFont typeface="Calibri"/>
              <a:buNone/>
            </a:pPr>
            <a:r>
              <a:rPr b="1" i="0" lang="en-US" sz="1400" u="none" cap="none" strike="noStrike">
                <a:solidFill>
                  <a:srgbClr val="2B2422"/>
                </a:solidFill>
                <a:latin typeface="Calibri"/>
                <a:ea typeface="Calibri"/>
                <a:cs typeface="Calibri"/>
                <a:sym typeface="Calibri"/>
              </a:rPr>
              <a:t>Code-switching is the point</a:t>
            </a:r>
            <a:endParaRPr b="0" i="0" sz="1400" u="none" cap="none" strike="noStrike">
              <a:solidFill>
                <a:schemeClr val="dk1"/>
              </a:solidFill>
              <a:latin typeface="Calibri"/>
              <a:ea typeface="Calibri"/>
              <a:cs typeface="Calibri"/>
              <a:sym typeface="Calibri"/>
            </a:endParaRPr>
          </a:p>
        </p:txBody>
      </p:sp>
      <p:sp>
        <p:nvSpPr>
          <p:cNvPr id="82" name="Google Shape;82;p3"/>
          <p:cNvSpPr/>
          <p:nvPr/>
        </p:nvSpPr>
        <p:spPr>
          <a:xfrm>
            <a:off x="1078992" y="5157216"/>
            <a:ext cx="4754880" cy="777240"/>
          </a:xfrm>
          <a:prstGeom prst="rect">
            <a:avLst/>
          </a:prstGeom>
          <a:noFill/>
          <a:ln>
            <a:noFill/>
          </a:ln>
        </p:spPr>
        <p:txBody>
          <a:bodyPr anchorCtr="0" anchor="ctr" bIns="0" lIns="0" spcFirstLastPara="1" rIns="0" wrap="square" tIns="0">
            <a:noAutofit/>
          </a:bodyPr>
          <a:lstStyle/>
          <a:p>
            <a:pPr indent="0" lvl="0" marL="0" marR="0" rtl="0" algn="l">
              <a:lnSpc>
                <a:spcPct val="144000"/>
              </a:lnSpc>
              <a:spcBef>
                <a:spcPts val="0"/>
              </a:spcBef>
              <a:spcAft>
                <a:spcPts val="0"/>
              </a:spcAft>
              <a:buClr>
                <a:srgbClr val="6E625E"/>
              </a:buClr>
              <a:buSzPts val="1250"/>
              <a:buFont typeface="Calibri"/>
              <a:buNone/>
            </a:pPr>
            <a:r>
              <a:rPr b="0" i="0" lang="en-US" sz="1250" u="none" cap="none" strike="noStrike">
                <a:solidFill>
                  <a:srgbClr val="6E625E"/>
                </a:solidFill>
                <a:latin typeface="Calibri"/>
                <a:ea typeface="Calibri"/>
                <a:cs typeface="Calibri"/>
                <a:sym typeface="Calibri"/>
              </a:rPr>
              <a:t>Real classrooms mix the local language with English or French, especially for numbers and school words. Ntina speaks that way.</a:t>
            </a:r>
            <a:endParaRPr b="0" i="0" sz="1250" u="none" cap="none" strike="noStrike">
              <a:solidFill>
                <a:schemeClr val="dk1"/>
              </a:solidFill>
              <a:latin typeface="Calibri"/>
              <a:ea typeface="Calibri"/>
              <a:cs typeface="Calibri"/>
              <a:sym typeface="Calibri"/>
            </a:endParaRPr>
          </a:p>
        </p:txBody>
      </p:sp>
      <p:sp>
        <p:nvSpPr>
          <p:cNvPr id="83" name="Google Shape;83;p3"/>
          <p:cNvSpPr/>
          <p:nvPr/>
        </p:nvSpPr>
        <p:spPr>
          <a:xfrm>
            <a:off x="6172200" y="4864608"/>
            <a:ext cx="274320" cy="274320"/>
          </a:xfrm>
          <a:prstGeom prst="ellipse">
            <a:avLst/>
          </a:prstGeom>
          <a:solidFill>
            <a:srgbClr val="3B232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4" name="Google Shape;84;p3"/>
          <p:cNvSpPr/>
          <p:nvPr/>
        </p:nvSpPr>
        <p:spPr>
          <a:xfrm>
            <a:off x="6611112" y="4828032"/>
            <a:ext cx="4754880" cy="29260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B2422"/>
              </a:buClr>
              <a:buSzPts val="1400"/>
              <a:buFont typeface="Calibri"/>
              <a:buNone/>
            </a:pPr>
            <a:r>
              <a:rPr b="1" i="0" lang="en-US" sz="1400" u="none" cap="none" strike="noStrike">
                <a:solidFill>
                  <a:srgbClr val="2B2422"/>
                </a:solidFill>
                <a:latin typeface="Calibri"/>
                <a:ea typeface="Calibri"/>
                <a:cs typeface="Calibri"/>
                <a:sym typeface="Calibri"/>
              </a:rPr>
              <a:t>Offline by design</a:t>
            </a:r>
            <a:endParaRPr b="0" i="0" sz="1400" u="none" cap="none" strike="noStrike">
              <a:solidFill>
                <a:schemeClr val="dk1"/>
              </a:solidFill>
              <a:latin typeface="Calibri"/>
              <a:ea typeface="Calibri"/>
              <a:cs typeface="Calibri"/>
              <a:sym typeface="Calibri"/>
            </a:endParaRPr>
          </a:p>
        </p:txBody>
      </p:sp>
      <p:sp>
        <p:nvSpPr>
          <p:cNvPr id="85" name="Google Shape;85;p3"/>
          <p:cNvSpPr/>
          <p:nvPr/>
        </p:nvSpPr>
        <p:spPr>
          <a:xfrm>
            <a:off x="6611112" y="5157216"/>
            <a:ext cx="4754880" cy="777240"/>
          </a:xfrm>
          <a:prstGeom prst="rect">
            <a:avLst/>
          </a:prstGeom>
          <a:noFill/>
          <a:ln>
            <a:noFill/>
          </a:ln>
        </p:spPr>
        <p:txBody>
          <a:bodyPr anchorCtr="0" anchor="ctr" bIns="0" lIns="0" spcFirstLastPara="1" rIns="0" wrap="square" tIns="0">
            <a:noAutofit/>
          </a:bodyPr>
          <a:lstStyle/>
          <a:p>
            <a:pPr indent="0" lvl="0" marL="0" marR="0" rtl="0" algn="l">
              <a:lnSpc>
                <a:spcPct val="144000"/>
              </a:lnSpc>
              <a:spcBef>
                <a:spcPts val="0"/>
              </a:spcBef>
              <a:spcAft>
                <a:spcPts val="0"/>
              </a:spcAft>
              <a:buClr>
                <a:srgbClr val="6E625E"/>
              </a:buClr>
              <a:buSzPts val="1250"/>
              <a:buFont typeface="Calibri"/>
              <a:buNone/>
            </a:pPr>
            <a:r>
              <a:rPr b="0" i="0" lang="en-US" sz="1250" u="none" cap="none" strike="noStrike">
                <a:solidFill>
                  <a:srgbClr val="6E625E"/>
                </a:solidFill>
                <a:latin typeface="Calibri"/>
                <a:ea typeface="Calibri"/>
                <a:cs typeface="Calibri"/>
                <a:sym typeface="Calibri"/>
              </a:rPr>
              <a:t>One shared Android device per learning camp. No stable internet required.</a:t>
            </a:r>
            <a:endParaRPr b="0" i="0" sz="1250" u="none" cap="none" strike="noStrike">
              <a:solidFill>
                <a:schemeClr val="dk1"/>
              </a:solidFill>
              <a:latin typeface="Calibri"/>
              <a:ea typeface="Calibri"/>
              <a:cs typeface="Calibri"/>
              <a:sym typeface="Calibri"/>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90" name="Shape 90"/>
        <p:cNvGrpSpPr/>
        <p:nvPr/>
      </p:nvGrpSpPr>
      <p:grpSpPr>
        <a:xfrm>
          <a:off x="0" y="0"/>
          <a:ext cx="0" cy="0"/>
          <a:chOff x="0" y="0"/>
          <a:chExt cx="0" cy="0"/>
        </a:xfrm>
      </p:grpSpPr>
      <p:sp>
        <p:nvSpPr>
          <p:cNvPr id="91" name="Google Shape;91;p4"/>
          <p:cNvSpPr/>
          <p:nvPr/>
        </p:nvSpPr>
        <p:spPr>
          <a:xfrm>
            <a:off x="640080" y="502920"/>
            <a:ext cx="8686800" cy="6400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B2422"/>
              </a:buClr>
              <a:buSzPts val="4000"/>
              <a:buFont typeface="Cambria"/>
              <a:buNone/>
            </a:pPr>
            <a:r>
              <a:rPr b="1" i="0" lang="en-US" sz="4000" u="none" cap="none" strike="noStrike">
                <a:solidFill>
                  <a:srgbClr val="2B2422"/>
                </a:solidFill>
                <a:latin typeface="Cambria"/>
                <a:ea typeface="Cambria"/>
                <a:cs typeface="Cambria"/>
                <a:sym typeface="Cambria"/>
              </a:rPr>
              <a:t>What we build: two datasets</a:t>
            </a:r>
            <a:endParaRPr b="0" i="0" sz="4000" u="none" cap="none" strike="noStrike">
              <a:solidFill>
                <a:schemeClr val="dk1"/>
              </a:solidFill>
              <a:latin typeface="Calibri"/>
              <a:ea typeface="Calibri"/>
              <a:cs typeface="Calibri"/>
              <a:sym typeface="Calibri"/>
            </a:endParaRPr>
          </a:p>
        </p:txBody>
      </p:sp>
      <p:sp>
        <p:nvSpPr>
          <p:cNvPr id="92" name="Google Shape;92;p4"/>
          <p:cNvSpPr/>
          <p:nvPr/>
        </p:nvSpPr>
        <p:spPr>
          <a:xfrm>
            <a:off x="658368" y="1207008"/>
            <a:ext cx="8412480" cy="457200"/>
          </a:xfrm>
          <a:prstGeom prst="rect">
            <a:avLst/>
          </a:prstGeom>
          <a:noFill/>
          <a:ln>
            <a:noFill/>
          </a:ln>
        </p:spPr>
        <p:txBody>
          <a:bodyPr anchorCtr="0" anchor="ctr" bIns="0" lIns="0" spcFirstLastPara="1" rIns="0" wrap="square" tIns="0">
            <a:noAutofit/>
          </a:bodyPr>
          <a:lstStyle/>
          <a:p>
            <a:pPr indent="0" lvl="0" marL="0" marR="0" rtl="0" algn="l">
              <a:lnSpc>
                <a:spcPct val="146666"/>
              </a:lnSpc>
              <a:spcBef>
                <a:spcPts val="0"/>
              </a:spcBef>
              <a:spcAft>
                <a:spcPts val="0"/>
              </a:spcAft>
              <a:buClr>
                <a:srgbClr val="6E625E"/>
              </a:buClr>
              <a:buSzPts val="1500"/>
              <a:buFont typeface="Calibri"/>
              <a:buNone/>
            </a:pPr>
            <a:r>
              <a:rPr b="0" i="0" lang="en-US" sz="1500" u="none" cap="none" strike="noStrike">
                <a:solidFill>
                  <a:srgbClr val="6E625E"/>
                </a:solidFill>
                <a:latin typeface="Calibri"/>
                <a:ea typeface="Calibri"/>
                <a:cs typeface="Calibri"/>
                <a:sym typeface="Calibri"/>
              </a:rPr>
              <a:t>This is the linguistic core of the project and the part that satisfies both the summer school and the challenge.</a:t>
            </a:r>
            <a:endParaRPr b="0" i="0" sz="1500" u="none" cap="none" strike="noStrike">
              <a:solidFill>
                <a:schemeClr val="dk1"/>
              </a:solidFill>
              <a:latin typeface="Calibri"/>
              <a:ea typeface="Calibri"/>
              <a:cs typeface="Calibri"/>
              <a:sym typeface="Calibri"/>
            </a:endParaRPr>
          </a:p>
        </p:txBody>
      </p:sp>
      <p:sp>
        <p:nvSpPr>
          <p:cNvPr id="93" name="Google Shape;93;p4"/>
          <p:cNvSpPr/>
          <p:nvPr/>
        </p:nvSpPr>
        <p:spPr>
          <a:xfrm>
            <a:off x="640080" y="1828800"/>
            <a:ext cx="5349240" cy="3246120"/>
          </a:xfrm>
          <a:prstGeom prst="roundRect">
            <a:avLst>
              <a:gd fmla="val 3380" name="adj"/>
            </a:avLst>
          </a:prstGeom>
          <a:solidFill>
            <a:srgbClr val="F0EFE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4" name="Google Shape;94;p4"/>
          <p:cNvSpPr/>
          <p:nvPr/>
        </p:nvSpPr>
        <p:spPr>
          <a:xfrm>
            <a:off x="960120" y="2121408"/>
            <a:ext cx="420624" cy="420624"/>
          </a:xfrm>
          <a:prstGeom prst="ellipse">
            <a:avLst/>
          </a:prstGeom>
          <a:solidFill>
            <a:srgbClr val="B8504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5" name="Google Shape;95;p4"/>
          <p:cNvSpPr/>
          <p:nvPr/>
        </p:nvSpPr>
        <p:spPr>
          <a:xfrm>
            <a:off x="960120" y="2167128"/>
            <a:ext cx="420624" cy="347472"/>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800"/>
              <a:buFont typeface="Cambria"/>
              <a:buNone/>
            </a:pPr>
            <a:r>
              <a:rPr b="1" i="0" lang="en-US" sz="1800" u="none" cap="none" strike="noStrike">
                <a:solidFill>
                  <a:srgbClr val="FFFFFF"/>
                </a:solidFill>
                <a:latin typeface="Cambria"/>
                <a:ea typeface="Cambria"/>
                <a:cs typeface="Cambria"/>
                <a:sym typeface="Cambria"/>
              </a:rPr>
              <a:t>A</a:t>
            </a:r>
            <a:endParaRPr b="0" i="0" sz="1800" u="none" cap="none" strike="noStrike">
              <a:solidFill>
                <a:schemeClr val="dk1"/>
              </a:solidFill>
              <a:latin typeface="Calibri"/>
              <a:ea typeface="Calibri"/>
              <a:cs typeface="Calibri"/>
              <a:sym typeface="Calibri"/>
            </a:endParaRPr>
          </a:p>
        </p:txBody>
      </p:sp>
      <p:sp>
        <p:nvSpPr>
          <p:cNvPr id="96" name="Google Shape;96;p4"/>
          <p:cNvSpPr/>
          <p:nvPr/>
        </p:nvSpPr>
        <p:spPr>
          <a:xfrm>
            <a:off x="1536192" y="2103120"/>
            <a:ext cx="4023360" cy="3657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B2422"/>
              </a:buClr>
              <a:buSzPts val="2400"/>
              <a:buFont typeface="Cambria"/>
              <a:buNone/>
            </a:pPr>
            <a:r>
              <a:rPr b="1" i="0" lang="en-US" sz="2400" u="none" cap="none" strike="noStrike">
                <a:solidFill>
                  <a:srgbClr val="2B2422"/>
                </a:solidFill>
                <a:latin typeface="Cambria"/>
                <a:ea typeface="Cambria"/>
                <a:cs typeface="Cambria"/>
                <a:sym typeface="Cambria"/>
              </a:rPr>
              <a:t>Text dataset</a:t>
            </a:r>
            <a:endParaRPr b="0" i="0" sz="2400" u="none" cap="none" strike="noStrike">
              <a:solidFill>
                <a:schemeClr val="dk1"/>
              </a:solidFill>
              <a:latin typeface="Calibri"/>
              <a:ea typeface="Calibri"/>
              <a:cs typeface="Calibri"/>
              <a:sym typeface="Calibri"/>
            </a:endParaRPr>
          </a:p>
        </p:txBody>
      </p:sp>
      <p:sp>
        <p:nvSpPr>
          <p:cNvPr id="97" name="Google Shape;97;p4"/>
          <p:cNvSpPr/>
          <p:nvPr/>
        </p:nvSpPr>
        <p:spPr>
          <a:xfrm>
            <a:off x="1536192" y="2487168"/>
            <a:ext cx="402336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7E9C8C"/>
              </a:buClr>
              <a:buSzPts val="1200"/>
              <a:buFont typeface="Calibri"/>
              <a:buNone/>
            </a:pPr>
            <a:r>
              <a:rPr b="0" i="1" lang="en-US" sz="1200" u="none" cap="none" strike="noStrike">
                <a:solidFill>
                  <a:srgbClr val="7E9C8C"/>
                </a:solidFill>
                <a:latin typeface="Calibri"/>
                <a:ea typeface="Calibri"/>
                <a:cs typeface="Calibri"/>
                <a:sym typeface="Calibri"/>
              </a:rPr>
              <a:t>powers the agent</a:t>
            </a:r>
            <a:endParaRPr b="0" i="0" sz="1200" u="none" cap="none" strike="noStrike">
              <a:solidFill>
                <a:schemeClr val="dk1"/>
              </a:solidFill>
              <a:latin typeface="Calibri"/>
              <a:ea typeface="Calibri"/>
              <a:cs typeface="Calibri"/>
              <a:sym typeface="Calibri"/>
            </a:endParaRPr>
          </a:p>
        </p:txBody>
      </p:sp>
      <p:sp>
        <p:nvSpPr>
          <p:cNvPr id="98" name="Google Shape;98;p4"/>
          <p:cNvSpPr/>
          <p:nvPr/>
        </p:nvSpPr>
        <p:spPr>
          <a:xfrm>
            <a:off x="1005850" y="2816053"/>
            <a:ext cx="4617600" cy="2148900"/>
          </a:xfrm>
          <a:prstGeom prst="rect">
            <a:avLst/>
          </a:prstGeom>
          <a:noFill/>
          <a:ln>
            <a:noFill/>
          </a:ln>
        </p:spPr>
        <p:txBody>
          <a:bodyPr anchorCtr="0" anchor="ctr" bIns="0" lIns="0" spcFirstLastPara="1" rIns="0" wrap="square" tIns="0">
            <a:noAutofit/>
          </a:bodyPr>
          <a:lstStyle/>
          <a:p>
            <a:pPr indent="-342900" lvl="0" marL="342900" marR="0" rtl="0" algn="l">
              <a:lnSpc>
                <a:spcPct val="141666"/>
              </a:lnSpc>
              <a:spcBef>
                <a:spcPts val="0"/>
              </a:spcBef>
              <a:spcAft>
                <a:spcPts val="0"/>
              </a:spcAft>
              <a:buClr>
                <a:srgbClr val="2B2422"/>
              </a:buClr>
              <a:buSzPts val="1200"/>
              <a:buFont typeface="Calibri"/>
              <a:buChar char="•"/>
            </a:pPr>
            <a:r>
              <a:rPr b="0" i="0" lang="en-US" sz="1200" u="none" cap="none" strike="noStrike">
                <a:solidFill>
                  <a:srgbClr val="2B2422"/>
                </a:solidFill>
                <a:latin typeface="Calibri"/>
                <a:ea typeface="Calibri"/>
                <a:cs typeface="Calibri"/>
                <a:sym typeface="Calibri"/>
              </a:rPr>
              <a:t>The reading test itself: syllables, words, paragraphs, short stories with human characters and comprehension questions</a:t>
            </a:r>
            <a:endParaRPr b="0" i="0" sz="1200" u="none" cap="none" strike="noStrike">
              <a:solidFill>
                <a:schemeClr val="dk1"/>
              </a:solidFill>
              <a:latin typeface="Calibri"/>
              <a:ea typeface="Calibri"/>
              <a:cs typeface="Calibri"/>
              <a:sym typeface="Calibri"/>
            </a:endParaRPr>
          </a:p>
          <a:p>
            <a:pPr indent="-342900" lvl="0" marL="342900" marR="0" rtl="0" algn="l">
              <a:lnSpc>
                <a:spcPct val="141666"/>
              </a:lnSpc>
              <a:spcBef>
                <a:spcPts val="800"/>
              </a:spcBef>
              <a:spcAft>
                <a:spcPts val="0"/>
              </a:spcAft>
              <a:buClr>
                <a:srgbClr val="2B2422"/>
              </a:buClr>
              <a:buSzPts val="1200"/>
              <a:buFont typeface="Calibri"/>
              <a:buChar char="•"/>
            </a:pPr>
            <a:r>
              <a:rPr b="0" i="0" lang="en-US" sz="1200" u="none" cap="none" strike="noStrike">
                <a:solidFill>
                  <a:srgbClr val="2B2422"/>
                </a:solidFill>
                <a:latin typeface="Calibri"/>
                <a:ea typeface="Calibri"/>
                <a:cs typeface="Calibri"/>
                <a:sym typeface="Calibri"/>
              </a:rPr>
              <a:t>Everything the agent says: instructions, praise, hints, correction, level transitions, all written as a real teacher speaks, code-switched</a:t>
            </a:r>
            <a:endParaRPr b="0" i="0" sz="1200" u="none" cap="none" strike="noStrike">
              <a:solidFill>
                <a:schemeClr val="dk1"/>
              </a:solidFill>
              <a:latin typeface="Calibri"/>
              <a:ea typeface="Calibri"/>
              <a:cs typeface="Calibri"/>
              <a:sym typeface="Calibri"/>
            </a:endParaRPr>
          </a:p>
          <a:p>
            <a:pPr indent="-342900" lvl="0" marL="342900" marR="0" rtl="0" algn="l">
              <a:lnSpc>
                <a:spcPct val="141666"/>
              </a:lnSpc>
              <a:spcBef>
                <a:spcPts val="800"/>
              </a:spcBef>
              <a:spcAft>
                <a:spcPts val="0"/>
              </a:spcAft>
              <a:buClr>
                <a:srgbClr val="2B2422"/>
              </a:buClr>
              <a:buSzPts val="1200"/>
              <a:buFont typeface="Calibri"/>
              <a:buChar char="•"/>
            </a:pPr>
            <a:r>
              <a:rPr b="0" i="0" lang="en-US" sz="1200" u="none" cap="none" strike="noStrike">
                <a:solidFill>
                  <a:srgbClr val="2B2422"/>
                </a:solidFill>
                <a:latin typeface="Calibri"/>
                <a:ea typeface="Calibri"/>
                <a:cs typeface="Calibri"/>
                <a:sym typeface="Calibri"/>
              </a:rPr>
              <a:t>Annotated for language tag, switch type, borrowing vs switch, TaRL level and teaching function</a:t>
            </a:r>
            <a:endParaRPr b="0" i="0" sz="1200" u="none" cap="none" strike="noStrike">
              <a:solidFill>
                <a:schemeClr val="dk1"/>
              </a:solidFill>
              <a:latin typeface="Calibri"/>
              <a:ea typeface="Calibri"/>
              <a:cs typeface="Calibri"/>
              <a:sym typeface="Calibri"/>
            </a:endParaRPr>
          </a:p>
          <a:p>
            <a:pPr indent="-342900" lvl="0" marL="342900" marR="0" rtl="0" algn="l">
              <a:lnSpc>
                <a:spcPct val="141666"/>
              </a:lnSpc>
              <a:spcBef>
                <a:spcPts val="800"/>
              </a:spcBef>
              <a:spcAft>
                <a:spcPts val="0"/>
              </a:spcAft>
              <a:buClr>
                <a:srgbClr val="2B2422"/>
              </a:buClr>
              <a:buSzPts val="1200"/>
              <a:buFont typeface="Calibri"/>
              <a:buChar char="•"/>
            </a:pPr>
            <a:r>
              <a:rPr b="0" i="0" lang="en-US" sz="1200" u="none" cap="none" strike="noStrike">
                <a:solidFill>
                  <a:srgbClr val="2B2422"/>
                </a:solidFill>
                <a:latin typeface="Calibri"/>
                <a:ea typeface="Calibri"/>
                <a:cs typeface="Calibri"/>
                <a:sym typeface="Calibri"/>
              </a:rPr>
              <a:t>Adapted from one language into a close relative, so we can measure what each extra language really costs</a:t>
            </a:r>
            <a:endParaRPr b="0" i="0" sz="1200" u="none" cap="none" strike="noStrike">
              <a:solidFill>
                <a:schemeClr val="dk1"/>
              </a:solidFill>
              <a:latin typeface="Calibri"/>
              <a:ea typeface="Calibri"/>
              <a:cs typeface="Calibri"/>
              <a:sym typeface="Calibri"/>
            </a:endParaRPr>
          </a:p>
        </p:txBody>
      </p:sp>
      <p:sp>
        <p:nvSpPr>
          <p:cNvPr id="99" name="Google Shape;99;p4"/>
          <p:cNvSpPr/>
          <p:nvPr/>
        </p:nvSpPr>
        <p:spPr>
          <a:xfrm>
            <a:off x="6172200" y="1828800"/>
            <a:ext cx="5303520" cy="3246120"/>
          </a:xfrm>
          <a:prstGeom prst="roundRect">
            <a:avLst>
              <a:gd fmla="val 3380" name="adj"/>
            </a:avLst>
          </a:prstGeom>
          <a:solidFill>
            <a:srgbClr val="3B232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0" name="Google Shape;100;p4"/>
          <p:cNvSpPr/>
          <p:nvPr/>
        </p:nvSpPr>
        <p:spPr>
          <a:xfrm>
            <a:off x="6492240" y="2121408"/>
            <a:ext cx="420624" cy="420624"/>
          </a:xfrm>
          <a:prstGeom prst="ellipse">
            <a:avLst/>
          </a:prstGeom>
          <a:solidFill>
            <a:srgbClr val="7E9C8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1" name="Google Shape;101;p4"/>
          <p:cNvSpPr/>
          <p:nvPr/>
        </p:nvSpPr>
        <p:spPr>
          <a:xfrm>
            <a:off x="6492240" y="2167128"/>
            <a:ext cx="420624" cy="347472"/>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800"/>
              <a:buFont typeface="Cambria"/>
              <a:buNone/>
            </a:pPr>
            <a:r>
              <a:rPr b="1" i="0" lang="en-US" sz="1800" u="none" cap="none" strike="noStrike">
                <a:solidFill>
                  <a:srgbClr val="FFFFFF"/>
                </a:solidFill>
                <a:latin typeface="Cambria"/>
                <a:ea typeface="Cambria"/>
                <a:cs typeface="Cambria"/>
                <a:sym typeface="Cambria"/>
              </a:rPr>
              <a:t>B</a:t>
            </a:r>
            <a:endParaRPr b="0" i="0" sz="1800" u="none" cap="none" strike="noStrike">
              <a:solidFill>
                <a:schemeClr val="dk1"/>
              </a:solidFill>
              <a:latin typeface="Calibri"/>
              <a:ea typeface="Calibri"/>
              <a:cs typeface="Calibri"/>
              <a:sym typeface="Calibri"/>
            </a:endParaRPr>
          </a:p>
        </p:txBody>
      </p:sp>
      <p:sp>
        <p:nvSpPr>
          <p:cNvPr id="102" name="Google Shape;102;p4"/>
          <p:cNvSpPr/>
          <p:nvPr/>
        </p:nvSpPr>
        <p:spPr>
          <a:xfrm>
            <a:off x="7068312" y="2103120"/>
            <a:ext cx="4023360" cy="3657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2400"/>
              <a:buFont typeface="Cambria"/>
              <a:buNone/>
            </a:pPr>
            <a:r>
              <a:rPr b="1" i="0" lang="en-US" sz="2400" u="none" cap="none" strike="noStrike">
                <a:solidFill>
                  <a:srgbClr val="FFFFFF"/>
                </a:solidFill>
                <a:latin typeface="Cambria"/>
                <a:ea typeface="Cambria"/>
                <a:cs typeface="Cambria"/>
                <a:sym typeface="Cambria"/>
              </a:rPr>
              <a:t>Audio dataset</a:t>
            </a:r>
            <a:endParaRPr b="0" i="0" sz="2400" u="none" cap="none" strike="noStrike">
              <a:solidFill>
                <a:schemeClr val="dk1"/>
              </a:solidFill>
              <a:latin typeface="Calibri"/>
              <a:ea typeface="Calibri"/>
              <a:cs typeface="Calibri"/>
              <a:sym typeface="Calibri"/>
            </a:endParaRPr>
          </a:p>
        </p:txBody>
      </p:sp>
      <p:sp>
        <p:nvSpPr>
          <p:cNvPr id="103" name="Google Shape;103;p4"/>
          <p:cNvSpPr/>
          <p:nvPr/>
        </p:nvSpPr>
        <p:spPr>
          <a:xfrm>
            <a:off x="7068312" y="2487168"/>
            <a:ext cx="402336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7E9C8C"/>
              </a:buClr>
              <a:buSzPts val="1200"/>
              <a:buFont typeface="Calibri"/>
              <a:buNone/>
            </a:pPr>
            <a:r>
              <a:rPr b="0" i="1" lang="en-US" sz="1200" u="none" cap="none" strike="noStrike">
                <a:solidFill>
                  <a:srgbClr val="7E9C8C"/>
                </a:solidFill>
                <a:latin typeface="Calibri"/>
                <a:ea typeface="Calibri"/>
                <a:cs typeface="Calibri"/>
                <a:sym typeface="Calibri"/>
              </a:rPr>
              <a:t>powers the benchmark</a:t>
            </a:r>
            <a:endParaRPr b="0" i="0" sz="1200" u="none" cap="none" strike="noStrike">
              <a:solidFill>
                <a:schemeClr val="dk1"/>
              </a:solidFill>
              <a:latin typeface="Calibri"/>
              <a:ea typeface="Calibri"/>
              <a:cs typeface="Calibri"/>
              <a:sym typeface="Calibri"/>
            </a:endParaRPr>
          </a:p>
        </p:txBody>
      </p:sp>
      <p:sp>
        <p:nvSpPr>
          <p:cNvPr id="104" name="Google Shape;104;p4"/>
          <p:cNvSpPr/>
          <p:nvPr/>
        </p:nvSpPr>
        <p:spPr>
          <a:xfrm>
            <a:off x="6537960" y="2926080"/>
            <a:ext cx="4617720" cy="2011680"/>
          </a:xfrm>
          <a:prstGeom prst="rect">
            <a:avLst/>
          </a:prstGeom>
          <a:noFill/>
          <a:ln>
            <a:noFill/>
          </a:ln>
        </p:spPr>
        <p:txBody>
          <a:bodyPr anchorCtr="0" anchor="ctr" bIns="0" lIns="0" spcFirstLastPara="1" rIns="0" wrap="square" tIns="0">
            <a:noAutofit/>
          </a:bodyPr>
          <a:lstStyle/>
          <a:p>
            <a:pPr indent="-342900" lvl="0" marL="342900" marR="0" rtl="0" algn="l">
              <a:lnSpc>
                <a:spcPct val="141666"/>
              </a:lnSpc>
              <a:spcBef>
                <a:spcPts val="0"/>
              </a:spcBef>
              <a:spcAft>
                <a:spcPts val="0"/>
              </a:spcAft>
              <a:buClr>
                <a:srgbClr val="F0EFE2"/>
              </a:buClr>
              <a:buSzPts val="1200"/>
              <a:buFont typeface="Calibri"/>
              <a:buChar char="•"/>
            </a:pPr>
            <a:r>
              <a:rPr b="0" i="0" lang="en-US" sz="1200" u="none" cap="none" strike="noStrike">
                <a:solidFill>
                  <a:srgbClr val="F0EFE2"/>
                </a:solidFill>
                <a:latin typeface="Calibri"/>
                <a:ea typeface="Calibri"/>
                <a:cs typeface="Calibri"/>
                <a:sym typeface="Calibri"/>
              </a:rPr>
              <a:t>Recorded code-switched speech across our language pairs, with metadata: pair, accent, country, device, noise</a:t>
            </a:r>
            <a:endParaRPr b="0" i="0" sz="1200" u="none" cap="none" strike="noStrike">
              <a:solidFill>
                <a:schemeClr val="dk1"/>
              </a:solidFill>
              <a:latin typeface="Calibri"/>
              <a:ea typeface="Calibri"/>
              <a:cs typeface="Calibri"/>
              <a:sym typeface="Calibri"/>
            </a:endParaRPr>
          </a:p>
          <a:p>
            <a:pPr indent="-342900" lvl="0" marL="342900" marR="0" rtl="0" algn="l">
              <a:lnSpc>
                <a:spcPct val="141666"/>
              </a:lnSpc>
              <a:spcBef>
                <a:spcPts val="800"/>
              </a:spcBef>
              <a:spcAft>
                <a:spcPts val="0"/>
              </a:spcAft>
              <a:buClr>
                <a:srgbClr val="F0EFE2"/>
              </a:buClr>
              <a:buSzPts val="1200"/>
              <a:buFont typeface="Calibri"/>
              <a:buChar char="•"/>
            </a:pPr>
            <a:r>
              <a:rPr b="0" i="0" lang="en-US" sz="1200" u="none" cap="none" strike="noStrike">
                <a:solidFill>
                  <a:srgbClr val="F0EFE2"/>
                </a:solidFill>
                <a:latin typeface="Calibri"/>
                <a:ea typeface="Calibri"/>
                <a:cs typeface="Calibri"/>
                <a:sym typeface="Calibri"/>
              </a:rPr>
              <a:t>Benchmarked across at least three speech models, including Sahara, </a:t>
            </a:r>
            <a:r>
              <a:rPr lang="en-US" sz="1200">
                <a:solidFill>
                  <a:srgbClr val="F0EFE2"/>
                </a:solidFill>
                <a:latin typeface="Calibri"/>
                <a:ea typeface="Calibri"/>
                <a:cs typeface="Calibri"/>
                <a:sym typeface="Calibri"/>
              </a:rPr>
              <a:t>groc, assemplyAI, Deepgram, and </a:t>
            </a:r>
            <a:r>
              <a:rPr lang="en-US" sz="1200">
                <a:solidFill>
                  <a:srgbClr val="F0EFE2"/>
                </a:solidFill>
                <a:latin typeface="Calibri"/>
                <a:ea typeface="Calibri"/>
                <a:cs typeface="Calibri"/>
                <a:sym typeface="Calibri"/>
              </a:rPr>
              <a:t>whisper</a:t>
            </a:r>
            <a:r>
              <a:rPr lang="en-US" sz="1200">
                <a:solidFill>
                  <a:srgbClr val="F0EFE2"/>
                </a:solidFill>
                <a:latin typeface="Calibri"/>
                <a:ea typeface="Calibri"/>
                <a:cs typeface="Calibri"/>
                <a:sym typeface="Calibri"/>
              </a:rPr>
              <a:t>. </a:t>
            </a:r>
            <a:endParaRPr sz="1200">
              <a:solidFill>
                <a:srgbClr val="F0EFE2"/>
              </a:solidFill>
              <a:latin typeface="Calibri"/>
              <a:ea typeface="Calibri"/>
              <a:cs typeface="Calibri"/>
              <a:sym typeface="Calibri"/>
            </a:endParaRPr>
          </a:p>
          <a:p>
            <a:pPr indent="-342900" lvl="0" marL="342900" marR="0" rtl="0" algn="l">
              <a:lnSpc>
                <a:spcPct val="141666"/>
              </a:lnSpc>
              <a:spcBef>
                <a:spcPts val="800"/>
              </a:spcBef>
              <a:spcAft>
                <a:spcPts val="0"/>
              </a:spcAft>
              <a:buClr>
                <a:srgbClr val="F0EFE2"/>
              </a:buClr>
              <a:buSzPts val="1200"/>
              <a:buFont typeface="Calibri"/>
              <a:buChar char="•"/>
            </a:pPr>
            <a:r>
              <a:rPr b="0" i="0" lang="en-US" sz="1200" u="none" cap="none" strike="noStrike">
                <a:solidFill>
                  <a:srgbClr val="F0EFE2"/>
                </a:solidFill>
                <a:latin typeface="Calibri"/>
                <a:ea typeface="Calibri"/>
                <a:cs typeface="Calibri"/>
                <a:sym typeface="Calibri"/>
              </a:rPr>
              <a:t>Reported on word error rate and, more importantly, on whether the agent lands on the same level a human assessor would</a:t>
            </a:r>
            <a:endParaRPr b="0" i="0" sz="1200" u="none" cap="none" strike="noStrike">
              <a:solidFill>
                <a:schemeClr val="dk1"/>
              </a:solidFill>
              <a:latin typeface="Calibri"/>
              <a:ea typeface="Calibri"/>
              <a:cs typeface="Calibri"/>
              <a:sym typeface="Calibri"/>
            </a:endParaRPr>
          </a:p>
          <a:p>
            <a:pPr indent="-342900" lvl="0" marL="342900" marR="0" rtl="0" algn="l">
              <a:lnSpc>
                <a:spcPct val="141666"/>
              </a:lnSpc>
              <a:spcBef>
                <a:spcPts val="800"/>
              </a:spcBef>
              <a:spcAft>
                <a:spcPts val="0"/>
              </a:spcAft>
              <a:buClr>
                <a:srgbClr val="F0EFE2"/>
              </a:buClr>
              <a:buSzPts val="1200"/>
              <a:buFont typeface="Calibri"/>
              <a:buChar char="•"/>
            </a:pPr>
            <a:r>
              <a:rPr b="0" i="0" lang="en-US" sz="1200" u="none" cap="none" strike="noStrike">
                <a:solidFill>
                  <a:srgbClr val="F0EFE2"/>
                </a:solidFill>
                <a:latin typeface="Calibri"/>
                <a:ea typeface="Calibri"/>
                <a:cs typeface="Calibri"/>
                <a:sym typeface="Calibri"/>
              </a:rPr>
              <a:t>Consent, privacy and data use documented from day one</a:t>
            </a:r>
            <a:endParaRPr b="0" i="0" sz="1200" u="none" cap="none" strike="noStrike">
              <a:solidFill>
                <a:schemeClr val="dk1"/>
              </a:solidFill>
              <a:latin typeface="Calibri"/>
              <a:ea typeface="Calibri"/>
              <a:cs typeface="Calibri"/>
              <a:sym typeface="Calibri"/>
            </a:endParaRPr>
          </a:p>
        </p:txBody>
      </p:sp>
      <p:sp>
        <p:nvSpPr>
          <p:cNvPr id="105" name="Google Shape;105;p4"/>
          <p:cNvSpPr/>
          <p:nvPr/>
        </p:nvSpPr>
        <p:spPr>
          <a:xfrm>
            <a:off x="701031" y="5321795"/>
            <a:ext cx="10789800" cy="457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B2422"/>
              </a:buClr>
              <a:buSzPts val="1300"/>
              <a:buFont typeface="Calibri"/>
              <a:buNone/>
            </a:pPr>
            <a:r>
              <a:rPr b="1" i="0" lang="en-US" sz="1300" u="none" cap="none" strike="noStrike">
                <a:solidFill>
                  <a:srgbClr val="2B2422"/>
                </a:solidFill>
                <a:latin typeface="Calibri"/>
                <a:ea typeface="Calibri"/>
                <a:cs typeface="Calibri"/>
                <a:sym typeface="Calibri"/>
              </a:rPr>
              <a:t>Target: </a:t>
            </a:r>
            <a:r>
              <a:rPr b="1" lang="en-US" sz="1300">
                <a:solidFill>
                  <a:srgbClr val="2B2422"/>
                </a:solidFill>
                <a:latin typeface="Calibri"/>
                <a:ea typeface="Calibri"/>
                <a:cs typeface="Calibri"/>
                <a:sym typeface="Calibri"/>
              </a:rPr>
              <a:t>5</a:t>
            </a:r>
            <a:r>
              <a:rPr b="1" i="0" lang="en-US" sz="1300" u="none" cap="none" strike="noStrike">
                <a:solidFill>
                  <a:srgbClr val="2B2422"/>
                </a:solidFill>
                <a:latin typeface="Calibri"/>
                <a:ea typeface="Calibri"/>
                <a:cs typeface="Calibri"/>
                <a:sym typeface="Calibri"/>
              </a:rPr>
              <a:t>,000+ annotated tokens of text, plus a benchmark audio set. Both are reusable artefacts, not throwaway demo data.</a:t>
            </a:r>
            <a:endParaRPr b="0" i="0" sz="1300" u="none" cap="none" strike="noStrike">
              <a:solidFill>
                <a:schemeClr val="dk1"/>
              </a:solidFill>
              <a:latin typeface="Calibri"/>
              <a:ea typeface="Calibri"/>
              <a:cs typeface="Calibri"/>
              <a:sym typeface="Calibri"/>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09" name="Shape 109"/>
        <p:cNvGrpSpPr/>
        <p:nvPr/>
      </p:nvGrpSpPr>
      <p:grpSpPr>
        <a:xfrm>
          <a:off x="0" y="0"/>
          <a:ext cx="0" cy="0"/>
          <a:chOff x="0" y="0"/>
          <a:chExt cx="0" cy="0"/>
        </a:xfrm>
      </p:grpSpPr>
      <p:sp>
        <p:nvSpPr>
          <p:cNvPr id="110" name="Google Shape;110;p5"/>
          <p:cNvSpPr/>
          <p:nvPr/>
        </p:nvSpPr>
        <p:spPr>
          <a:xfrm>
            <a:off x="640080" y="502920"/>
            <a:ext cx="10911840" cy="6400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B2422"/>
              </a:buClr>
              <a:buSzPts val="4000"/>
              <a:buFont typeface="Cambria"/>
              <a:buNone/>
            </a:pPr>
            <a:r>
              <a:rPr b="1" i="0" lang="en-US" sz="4000" u="none" cap="none" strike="noStrike">
                <a:solidFill>
                  <a:srgbClr val="2B2422"/>
                </a:solidFill>
                <a:latin typeface="Cambria"/>
                <a:ea typeface="Cambria"/>
                <a:cs typeface="Cambria"/>
                <a:sym typeface="Cambria"/>
              </a:rPr>
              <a:t>Adapting across dialects, not just languages</a:t>
            </a:r>
            <a:endParaRPr b="0" i="0" sz="4000" u="none" cap="none" strike="noStrike">
              <a:solidFill>
                <a:schemeClr val="dk1"/>
              </a:solidFill>
              <a:latin typeface="Calibri"/>
              <a:ea typeface="Calibri"/>
              <a:cs typeface="Calibri"/>
              <a:sym typeface="Calibri"/>
            </a:endParaRPr>
          </a:p>
        </p:txBody>
      </p:sp>
      <p:sp>
        <p:nvSpPr>
          <p:cNvPr id="111" name="Google Shape;111;p5"/>
          <p:cNvSpPr/>
          <p:nvPr/>
        </p:nvSpPr>
        <p:spPr>
          <a:xfrm>
            <a:off x="658368" y="1207008"/>
            <a:ext cx="10534680" cy="457200"/>
          </a:xfrm>
          <a:prstGeom prst="rect">
            <a:avLst/>
          </a:prstGeom>
          <a:noFill/>
          <a:ln>
            <a:noFill/>
          </a:ln>
        </p:spPr>
        <p:txBody>
          <a:bodyPr anchorCtr="0" anchor="ctr" bIns="0" lIns="0" spcFirstLastPara="1" rIns="0" wrap="square" tIns="0">
            <a:noAutofit/>
          </a:bodyPr>
          <a:lstStyle/>
          <a:p>
            <a:pPr indent="0" lvl="0" marL="0" marR="0" rtl="0" algn="l">
              <a:lnSpc>
                <a:spcPct val="146666"/>
              </a:lnSpc>
              <a:spcBef>
                <a:spcPts val="0"/>
              </a:spcBef>
              <a:spcAft>
                <a:spcPts val="0"/>
              </a:spcAft>
              <a:buClr>
                <a:srgbClr val="6E625E"/>
              </a:buClr>
              <a:buSzPts val="1500"/>
              <a:buFont typeface="Calibri"/>
              <a:buNone/>
            </a:pPr>
            <a:r>
              <a:rPr b="0" i="0" lang="en-US" sz="1500" u="none" cap="none" strike="noStrike">
                <a:solidFill>
                  <a:srgbClr val="6E625E"/>
                </a:solidFill>
                <a:latin typeface="Calibri"/>
                <a:ea typeface="Calibri"/>
                <a:cs typeface="Calibri"/>
                <a:sym typeface="Calibri"/>
              </a:rPr>
              <a:t>Low-resourceness compounds. It is not just Swahili vs Yoruba, it is which Swahili.</a:t>
            </a:r>
            <a:endParaRPr b="0" i="0" sz="1500" u="none" cap="none" strike="noStrike">
              <a:solidFill>
                <a:schemeClr val="dk1"/>
              </a:solidFill>
              <a:latin typeface="Calibri"/>
              <a:ea typeface="Calibri"/>
              <a:cs typeface="Calibri"/>
              <a:sym typeface="Calibri"/>
            </a:endParaRPr>
          </a:p>
        </p:txBody>
      </p:sp>
      <p:sp>
        <p:nvSpPr>
          <p:cNvPr id="112" name="Google Shape;112;p5"/>
          <p:cNvSpPr/>
          <p:nvPr/>
        </p:nvSpPr>
        <p:spPr>
          <a:xfrm>
            <a:off x="640080" y="1828800"/>
            <a:ext cx="3450000" cy="3900000"/>
          </a:xfrm>
          <a:prstGeom prst="roundRect">
            <a:avLst>
              <a:gd fmla="val 3380" name="adj"/>
            </a:avLst>
          </a:prstGeom>
          <a:solidFill>
            <a:srgbClr val="F0EFE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3" name="Google Shape;113;p5"/>
          <p:cNvSpPr/>
          <p:nvPr/>
        </p:nvSpPr>
        <p:spPr>
          <a:xfrm>
            <a:off x="960120" y="2121408"/>
            <a:ext cx="420624" cy="420624"/>
          </a:xfrm>
          <a:prstGeom prst="ellipse">
            <a:avLst/>
          </a:prstGeom>
          <a:solidFill>
            <a:srgbClr val="B8504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4" name="Google Shape;114;p5"/>
          <p:cNvSpPr/>
          <p:nvPr/>
        </p:nvSpPr>
        <p:spPr>
          <a:xfrm>
            <a:off x="960120" y="2167128"/>
            <a:ext cx="420624" cy="347472"/>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800"/>
              <a:buFont typeface="Cambria"/>
              <a:buNone/>
            </a:pPr>
            <a:r>
              <a:rPr b="1" i="0" lang="en-US" sz="1800" u="none" cap="none" strike="noStrike">
                <a:solidFill>
                  <a:srgbClr val="FFFFFF"/>
                </a:solidFill>
                <a:latin typeface="Cambria"/>
                <a:ea typeface="Cambria"/>
                <a:cs typeface="Cambria"/>
                <a:sym typeface="Cambria"/>
              </a:rPr>
              <a:t>1</a:t>
            </a:r>
            <a:endParaRPr b="0" i="0" sz="1800" u="none" cap="none" strike="noStrike">
              <a:solidFill>
                <a:schemeClr val="dk1"/>
              </a:solidFill>
              <a:latin typeface="Calibri"/>
              <a:ea typeface="Calibri"/>
              <a:cs typeface="Calibri"/>
              <a:sym typeface="Calibri"/>
            </a:endParaRPr>
          </a:p>
        </p:txBody>
      </p:sp>
      <p:sp>
        <p:nvSpPr>
          <p:cNvPr id="115" name="Google Shape;115;p5"/>
          <p:cNvSpPr/>
          <p:nvPr/>
        </p:nvSpPr>
        <p:spPr>
          <a:xfrm>
            <a:off x="1536192" y="2103120"/>
            <a:ext cx="2253888" cy="3657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B2422"/>
              </a:buClr>
              <a:buSzPts val="2400"/>
              <a:buFont typeface="Cambria"/>
              <a:buNone/>
            </a:pPr>
            <a:r>
              <a:rPr b="1" i="0" lang="en-US" sz="2400" u="none" cap="none" strike="noStrike">
                <a:solidFill>
                  <a:srgbClr val="2B2422"/>
                </a:solidFill>
                <a:latin typeface="Cambria"/>
                <a:ea typeface="Cambria"/>
                <a:cs typeface="Cambria"/>
                <a:sym typeface="Cambria"/>
              </a:rPr>
              <a:t>Coastal Swahili</a:t>
            </a:r>
            <a:endParaRPr b="0" i="0" sz="2400" u="none" cap="none" strike="noStrike">
              <a:solidFill>
                <a:schemeClr val="dk1"/>
              </a:solidFill>
              <a:latin typeface="Calibri"/>
              <a:ea typeface="Calibri"/>
              <a:cs typeface="Calibri"/>
              <a:sym typeface="Calibri"/>
            </a:endParaRPr>
          </a:p>
        </p:txBody>
      </p:sp>
      <p:sp>
        <p:nvSpPr>
          <p:cNvPr id="116" name="Google Shape;116;p5"/>
          <p:cNvSpPr/>
          <p:nvPr/>
        </p:nvSpPr>
        <p:spPr>
          <a:xfrm>
            <a:off x="1536192" y="2487168"/>
            <a:ext cx="2253888"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7E9C8C"/>
              </a:buClr>
              <a:buSzPts val="1200"/>
              <a:buFont typeface="Calibri"/>
              <a:buNone/>
            </a:pPr>
            <a:r>
              <a:rPr b="0" i="1" lang="en-US" sz="1200" u="none" cap="none" strike="noStrike">
                <a:solidFill>
                  <a:srgbClr val="7E9C8C"/>
                </a:solidFill>
                <a:latin typeface="Calibri"/>
                <a:ea typeface="Calibri"/>
                <a:cs typeface="Calibri"/>
                <a:sym typeface="Calibri"/>
              </a:rPr>
              <a:t>Kenya</a:t>
            </a:r>
            <a:endParaRPr b="0" i="0" sz="1200" u="none" cap="none" strike="noStrike">
              <a:solidFill>
                <a:schemeClr val="dk1"/>
              </a:solidFill>
              <a:latin typeface="Calibri"/>
              <a:ea typeface="Calibri"/>
              <a:cs typeface="Calibri"/>
              <a:sym typeface="Calibri"/>
            </a:endParaRPr>
          </a:p>
        </p:txBody>
      </p:sp>
      <p:sp>
        <p:nvSpPr>
          <p:cNvPr id="117" name="Google Shape;117;p5"/>
          <p:cNvSpPr/>
          <p:nvPr/>
        </p:nvSpPr>
        <p:spPr>
          <a:xfrm>
            <a:off x="1005840" y="2926080"/>
            <a:ext cx="2784240" cy="2652720"/>
          </a:xfrm>
          <a:prstGeom prst="rect">
            <a:avLst/>
          </a:prstGeom>
          <a:noFill/>
          <a:ln>
            <a:noFill/>
          </a:ln>
        </p:spPr>
        <p:txBody>
          <a:bodyPr anchorCtr="0" anchor="ctr" bIns="0" lIns="0" spcFirstLastPara="1" rIns="0" wrap="square" tIns="0">
            <a:noAutofit/>
          </a:bodyPr>
          <a:lstStyle/>
          <a:p>
            <a:pPr indent="-342900" lvl="0" marL="342900" marR="0" rtl="0" algn="l">
              <a:lnSpc>
                <a:spcPct val="141666"/>
              </a:lnSpc>
              <a:spcBef>
                <a:spcPts val="0"/>
              </a:spcBef>
              <a:spcAft>
                <a:spcPts val="0"/>
              </a:spcAft>
              <a:buClr>
                <a:srgbClr val="2B2422"/>
              </a:buClr>
              <a:buSzPts val="1200"/>
              <a:buFont typeface="Calibri"/>
              <a:buChar char="•"/>
            </a:pPr>
            <a:r>
              <a:rPr b="0" i="0" lang="en-US" sz="1200" u="none" cap="none" strike="noStrike">
                <a:solidFill>
                  <a:srgbClr val="2B2422"/>
                </a:solidFill>
                <a:latin typeface="Calibri"/>
                <a:ea typeface="Calibri"/>
                <a:cs typeface="Calibri"/>
                <a:sym typeface="Calibri"/>
              </a:rPr>
              <a:t>The baseline instrument.</a:t>
            </a:r>
            <a:endParaRPr b="0" i="0" sz="1200" u="none" cap="none" strike="noStrike">
              <a:solidFill>
                <a:schemeClr val="dk1"/>
              </a:solidFill>
              <a:latin typeface="Calibri"/>
              <a:ea typeface="Calibri"/>
              <a:cs typeface="Calibri"/>
              <a:sym typeface="Calibri"/>
            </a:endParaRPr>
          </a:p>
          <a:p>
            <a:pPr indent="-342900" lvl="0" marL="342900" marR="0" rtl="0" algn="l">
              <a:lnSpc>
                <a:spcPct val="141666"/>
              </a:lnSpc>
              <a:spcBef>
                <a:spcPts val="800"/>
              </a:spcBef>
              <a:spcAft>
                <a:spcPts val="0"/>
              </a:spcAft>
              <a:buClr>
                <a:srgbClr val="2B2422"/>
              </a:buClr>
              <a:buSzPts val="1200"/>
              <a:buFont typeface="Calibri"/>
              <a:buChar char="•"/>
            </a:pPr>
            <a:r>
              <a:rPr b="0" i="0" lang="en-US" sz="1200" u="none" cap="none" strike="noStrike">
                <a:solidFill>
                  <a:srgbClr val="2B2422"/>
                </a:solidFill>
                <a:latin typeface="Calibri"/>
                <a:ea typeface="Calibri"/>
                <a:cs typeface="Calibri"/>
                <a:sym typeface="Calibri"/>
              </a:rPr>
              <a:t>Syllables, words and stories</a:t>
            </a:r>
            <a:endParaRPr b="0" i="0" sz="1200" u="none" cap="none" strike="noStrike">
              <a:solidFill>
                <a:schemeClr val="dk1"/>
              </a:solidFill>
              <a:latin typeface="Calibri"/>
              <a:ea typeface="Calibri"/>
              <a:cs typeface="Calibri"/>
              <a:sym typeface="Calibri"/>
            </a:endParaRPr>
          </a:p>
          <a:p>
            <a:pPr indent="-342900" lvl="0" marL="342900" marR="0" rtl="0" algn="l">
              <a:lnSpc>
                <a:spcPct val="141666"/>
              </a:lnSpc>
              <a:spcBef>
                <a:spcPts val="800"/>
              </a:spcBef>
              <a:spcAft>
                <a:spcPts val="0"/>
              </a:spcAft>
              <a:buClr>
                <a:srgbClr val="2B2422"/>
              </a:buClr>
              <a:buSzPts val="1200"/>
              <a:buFont typeface="Calibri"/>
              <a:buChar char="•"/>
            </a:pPr>
            <a:r>
              <a:rPr b="0" i="0" lang="en-US" sz="1200" u="none" cap="none" strike="noStrike">
                <a:solidFill>
                  <a:srgbClr val="2B2422"/>
                </a:solidFill>
                <a:latin typeface="Calibri"/>
                <a:ea typeface="Calibri"/>
                <a:cs typeface="Calibri"/>
                <a:sym typeface="Calibri"/>
              </a:rPr>
              <a:t>authored against standard,</a:t>
            </a:r>
            <a:endParaRPr b="0" i="0" sz="1200" u="none" cap="none" strike="noStrike">
              <a:solidFill>
                <a:schemeClr val="dk1"/>
              </a:solidFill>
              <a:latin typeface="Calibri"/>
              <a:ea typeface="Calibri"/>
              <a:cs typeface="Calibri"/>
              <a:sym typeface="Calibri"/>
            </a:endParaRPr>
          </a:p>
          <a:p>
            <a:pPr indent="-342900" lvl="0" marL="342900" marR="0" rtl="0" algn="l">
              <a:lnSpc>
                <a:spcPct val="141666"/>
              </a:lnSpc>
              <a:spcBef>
                <a:spcPts val="800"/>
              </a:spcBef>
              <a:spcAft>
                <a:spcPts val="0"/>
              </a:spcAft>
              <a:buClr>
                <a:srgbClr val="2B2422"/>
              </a:buClr>
              <a:buSzPts val="1200"/>
              <a:buFont typeface="Calibri"/>
              <a:buChar char="•"/>
            </a:pPr>
            <a:r>
              <a:rPr b="0" i="0" lang="en-US" sz="1200" u="none" cap="none" strike="noStrike">
                <a:solidFill>
                  <a:srgbClr val="2B2422"/>
                </a:solidFill>
                <a:latin typeface="Calibri"/>
                <a:ea typeface="Calibri"/>
                <a:cs typeface="Calibri"/>
                <a:sym typeface="Calibri"/>
              </a:rPr>
              <a:t>coastal-influenced Swahili as</a:t>
            </a:r>
            <a:endParaRPr b="0" i="0" sz="1200" u="none" cap="none" strike="noStrike">
              <a:solidFill>
                <a:schemeClr val="dk1"/>
              </a:solidFill>
              <a:latin typeface="Calibri"/>
              <a:ea typeface="Calibri"/>
              <a:cs typeface="Calibri"/>
              <a:sym typeface="Calibri"/>
            </a:endParaRPr>
          </a:p>
          <a:p>
            <a:pPr indent="-342900" lvl="0" marL="342900" marR="0" rtl="0" algn="l">
              <a:lnSpc>
                <a:spcPct val="141666"/>
              </a:lnSpc>
              <a:spcBef>
                <a:spcPts val="800"/>
              </a:spcBef>
              <a:spcAft>
                <a:spcPts val="0"/>
              </a:spcAft>
              <a:buClr>
                <a:srgbClr val="2B2422"/>
              </a:buClr>
              <a:buSzPts val="1200"/>
              <a:buFont typeface="Calibri"/>
              <a:buChar char="•"/>
            </a:pPr>
            <a:r>
              <a:rPr b="0" i="0" lang="en-US" sz="1200" u="none" cap="none" strike="noStrike">
                <a:solidFill>
                  <a:srgbClr val="2B2422"/>
                </a:solidFill>
                <a:latin typeface="Calibri"/>
                <a:ea typeface="Calibri"/>
                <a:cs typeface="Calibri"/>
                <a:sym typeface="Calibri"/>
              </a:rPr>
              <a:t>taught in Kenyan schools.</a:t>
            </a:r>
            <a:endParaRPr b="0" i="0" sz="1200" u="none" cap="none" strike="noStrike">
              <a:solidFill>
                <a:schemeClr val="dk1"/>
              </a:solidFill>
              <a:latin typeface="Calibri"/>
              <a:ea typeface="Calibri"/>
              <a:cs typeface="Calibri"/>
              <a:sym typeface="Calibri"/>
            </a:endParaRPr>
          </a:p>
        </p:txBody>
      </p:sp>
      <p:sp>
        <p:nvSpPr>
          <p:cNvPr id="118" name="Google Shape;118;p5"/>
          <p:cNvSpPr/>
          <p:nvPr/>
        </p:nvSpPr>
        <p:spPr>
          <a:xfrm>
            <a:off x="4410080" y="1828800"/>
            <a:ext cx="3450000" cy="3900000"/>
          </a:xfrm>
          <a:prstGeom prst="roundRect">
            <a:avLst>
              <a:gd fmla="val 3380" name="adj"/>
            </a:avLst>
          </a:prstGeom>
          <a:solidFill>
            <a:srgbClr val="F0EFE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9" name="Google Shape;119;p5"/>
          <p:cNvSpPr/>
          <p:nvPr/>
        </p:nvSpPr>
        <p:spPr>
          <a:xfrm>
            <a:off x="4730120" y="2121408"/>
            <a:ext cx="420624" cy="420624"/>
          </a:xfrm>
          <a:prstGeom prst="ellipse">
            <a:avLst/>
          </a:prstGeom>
          <a:solidFill>
            <a:srgbClr val="7E9C8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0" name="Google Shape;120;p5"/>
          <p:cNvSpPr/>
          <p:nvPr/>
        </p:nvSpPr>
        <p:spPr>
          <a:xfrm>
            <a:off x="4730120" y="2167128"/>
            <a:ext cx="420624" cy="347472"/>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800"/>
              <a:buFont typeface="Cambria"/>
              <a:buNone/>
            </a:pPr>
            <a:r>
              <a:rPr b="1" i="0" lang="en-US" sz="1800" u="none" cap="none" strike="noStrike">
                <a:solidFill>
                  <a:srgbClr val="FFFFFF"/>
                </a:solidFill>
                <a:latin typeface="Cambria"/>
                <a:ea typeface="Cambria"/>
                <a:cs typeface="Cambria"/>
                <a:sym typeface="Cambria"/>
              </a:rPr>
              <a:t>2</a:t>
            </a:r>
            <a:endParaRPr b="0" i="0" sz="1800" u="none" cap="none" strike="noStrike">
              <a:solidFill>
                <a:schemeClr val="dk1"/>
              </a:solidFill>
              <a:latin typeface="Calibri"/>
              <a:ea typeface="Calibri"/>
              <a:cs typeface="Calibri"/>
              <a:sym typeface="Calibri"/>
            </a:endParaRPr>
          </a:p>
        </p:txBody>
      </p:sp>
      <p:sp>
        <p:nvSpPr>
          <p:cNvPr id="121" name="Google Shape;121;p5"/>
          <p:cNvSpPr/>
          <p:nvPr/>
        </p:nvSpPr>
        <p:spPr>
          <a:xfrm>
            <a:off x="5306192" y="2103120"/>
            <a:ext cx="2253888" cy="3657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B2422"/>
              </a:buClr>
              <a:buSzPts val="2400"/>
              <a:buFont typeface="Cambria"/>
              <a:buNone/>
            </a:pPr>
            <a:r>
              <a:rPr b="1" i="0" lang="en-US" sz="2400" u="none" cap="none" strike="noStrike">
                <a:solidFill>
                  <a:srgbClr val="2B2422"/>
                </a:solidFill>
                <a:latin typeface="Cambria"/>
                <a:ea typeface="Cambria"/>
                <a:cs typeface="Cambria"/>
                <a:sym typeface="Cambria"/>
              </a:rPr>
              <a:t>Swahili</a:t>
            </a:r>
            <a:endParaRPr b="0" i="0" sz="2400" u="none" cap="none" strike="noStrike">
              <a:solidFill>
                <a:schemeClr val="dk1"/>
              </a:solidFill>
              <a:latin typeface="Calibri"/>
              <a:ea typeface="Calibri"/>
              <a:cs typeface="Calibri"/>
              <a:sym typeface="Calibri"/>
            </a:endParaRPr>
          </a:p>
        </p:txBody>
      </p:sp>
      <p:sp>
        <p:nvSpPr>
          <p:cNvPr id="122" name="Google Shape;122;p5"/>
          <p:cNvSpPr/>
          <p:nvPr/>
        </p:nvSpPr>
        <p:spPr>
          <a:xfrm>
            <a:off x="5306192" y="2487168"/>
            <a:ext cx="2253888"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7E9C8C"/>
              </a:buClr>
              <a:buSzPts val="1200"/>
              <a:buFont typeface="Calibri"/>
              <a:buNone/>
            </a:pPr>
            <a:r>
              <a:rPr b="0" i="1" lang="en-US" sz="1200" u="none" cap="none" strike="noStrike">
                <a:solidFill>
                  <a:srgbClr val="7E9C8C"/>
                </a:solidFill>
                <a:latin typeface="Calibri"/>
                <a:ea typeface="Calibri"/>
                <a:cs typeface="Calibri"/>
                <a:sym typeface="Calibri"/>
              </a:rPr>
              <a:t>Tanzania</a:t>
            </a:r>
            <a:endParaRPr b="0" i="0" sz="1200" u="none" cap="none" strike="noStrike">
              <a:solidFill>
                <a:schemeClr val="dk1"/>
              </a:solidFill>
              <a:latin typeface="Calibri"/>
              <a:ea typeface="Calibri"/>
              <a:cs typeface="Calibri"/>
              <a:sym typeface="Calibri"/>
            </a:endParaRPr>
          </a:p>
        </p:txBody>
      </p:sp>
      <p:sp>
        <p:nvSpPr>
          <p:cNvPr id="123" name="Google Shape;123;p5"/>
          <p:cNvSpPr/>
          <p:nvPr/>
        </p:nvSpPr>
        <p:spPr>
          <a:xfrm>
            <a:off x="4775840" y="2926080"/>
            <a:ext cx="2784240" cy="2652720"/>
          </a:xfrm>
          <a:prstGeom prst="rect">
            <a:avLst/>
          </a:prstGeom>
          <a:noFill/>
          <a:ln>
            <a:noFill/>
          </a:ln>
        </p:spPr>
        <p:txBody>
          <a:bodyPr anchorCtr="0" anchor="ctr" bIns="0" lIns="0" spcFirstLastPara="1" rIns="0" wrap="square" tIns="0">
            <a:noAutofit/>
          </a:bodyPr>
          <a:lstStyle/>
          <a:p>
            <a:pPr indent="-342900" lvl="0" marL="342900" marR="0" rtl="0" algn="l">
              <a:lnSpc>
                <a:spcPct val="141666"/>
              </a:lnSpc>
              <a:spcBef>
                <a:spcPts val="0"/>
              </a:spcBef>
              <a:spcAft>
                <a:spcPts val="0"/>
              </a:spcAft>
              <a:buClr>
                <a:srgbClr val="2B2422"/>
              </a:buClr>
              <a:buSzPts val="1200"/>
              <a:buFont typeface="Calibri"/>
              <a:buChar char="•"/>
            </a:pPr>
            <a:r>
              <a:rPr b="0" i="0" lang="en-US" sz="1200" u="none" cap="none" strike="noStrike">
                <a:solidFill>
                  <a:srgbClr val="2B2422"/>
                </a:solidFill>
                <a:latin typeface="Calibri"/>
                <a:ea typeface="Calibri"/>
                <a:cs typeface="Calibri"/>
                <a:sym typeface="Calibri"/>
              </a:rPr>
              <a:t>Validated and re-recorded</a:t>
            </a:r>
            <a:endParaRPr b="0" i="0" sz="1200" u="none" cap="none" strike="noStrike">
              <a:solidFill>
                <a:schemeClr val="dk1"/>
              </a:solidFill>
              <a:latin typeface="Calibri"/>
              <a:ea typeface="Calibri"/>
              <a:cs typeface="Calibri"/>
              <a:sym typeface="Calibri"/>
            </a:endParaRPr>
          </a:p>
          <a:p>
            <a:pPr indent="-342900" lvl="0" marL="342900" marR="0" rtl="0" algn="l">
              <a:lnSpc>
                <a:spcPct val="141666"/>
              </a:lnSpc>
              <a:spcBef>
                <a:spcPts val="800"/>
              </a:spcBef>
              <a:spcAft>
                <a:spcPts val="0"/>
              </a:spcAft>
              <a:buClr>
                <a:srgbClr val="2B2422"/>
              </a:buClr>
              <a:buSzPts val="1200"/>
              <a:buFont typeface="Calibri"/>
              <a:buChar char="•"/>
            </a:pPr>
            <a:r>
              <a:rPr b="0" i="0" lang="en-US" sz="1200" u="none" cap="none" strike="noStrike">
                <a:solidFill>
                  <a:srgbClr val="2B2422"/>
                </a:solidFill>
                <a:latin typeface="Calibri"/>
                <a:ea typeface="Calibri"/>
                <a:cs typeface="Calibri"/>
                <a:sym typeface="Calibri"/>
              </a:rPr>
              <a:t>against Tanzanian Swahili</a:t>
            </a:r>
            <a:endParaRPr b="0" i="0" sz="1200" u="none" cap="none" strike="noStrike">
              <a:solidFill>
                <a:schemeClr val="dk1"/>
              </a:solidFill>
              <a:latin typeface="Calibri"/>
              <a:ea typeface="Calibri"/>
              <a:cs typeface="Calibri"/>
              <a:sym typeface="Calibri"/>
            </a:endParaRPr>
          </a:p>
          <a:p>
            <a:pPr indent="-342900" lvl="0" marL="342900" marR="0" rtl="0" algn="l">
              <a:lnSpc>
                <a:spcPct val="141666"/>
              </a:lnSpc>
              <a:spcBef>
                <a:spcPts val="800"/>
              </a:spcBef>
              <a:spcAft>
                <a:spcPts val="0"/>
              </a:spcAft>
              <a:buClr>
                <a:srgbClr val="2B2422"/>
              </a:buClr>
              <a:buSzPts val="1200"/>
              <a:buFont typeface="Calibri"/>
              <a:buChar char="•"/>
            </a:pPr>
            <a:r>
              <a:rPr b="0" i="0" lang="en-US" sz="1200" u="none" cap="none" strike="noStrike">
                <a:solidFill>
                  <a:srgbClr val="2B2422"/>
                </a:solidFill>
                <a:latin typeface="Calibri"/>
                <a:ea typeface="Calibri"/>
                <a:cs typeface="Calibri"/>
                <a:sym typeface="Calibri"/>
              </a:rPr>
              <a:t>pronunciation and everyday</a:t>
            </a:r>
            <a:endParaRPr b="0" i="0" sz="1200" u="none" cap="none" strike="noStrike">
              <a:solidFill>
                <a:schemeClr val="dk1"/>
              </a:solidFill>
              <a:latin typeface="Calibri"/>
              <a:ea typeface="Calibri"/>
              <a:cs typeface="Calibri"/>
              <a:sym typeface="Calibri"/>
            </a:endParaRPr>
          </a:p>
          <a:p>
            <a:pPr indent="-342900" lvl="0" marL="342900" marR="0" rtl="0" algn="l">
              <a:lnSpc>
                <a:spcPct val="141666"/>
              </a:lnSpc>
              <a:spcBef>
                <a:spcPts val="800"/>
              </a:spcBef>
              <a:spcAft>
                <a:spcPts val="0"/>
              </a:spcAft>
              <a:buClr>
                <a:srgbClr val="2B2422"/>
              </a:buClr>
              <a:buSzPts val="1200"/>
              <a:buFont typeface="Calibri"/>
              <a:buChar char="•"/>
            </a:pPr>
            <a:r>
              <a:rPr b="0" i="0" lang="en-US" sz="1200" u="none" cap="none" strike="noStrike">
                <a:solidFill>
                  <a:srgbClr val="2B2422"/>
                </a:solidFill>
                <a:latin typeface="Calibri"/>
                <a:ea typeface="Calibri"/>
                <a:cs typeface="Calibri"/>
                <a:sym typeface="Calibri"/>
              </a:rPr>
              <a:t>vocabulary, which diverges</a:t>
            </a:r>
            <a:endParaRPr b="0" i="0" sz="1200" u="none" cap="none" strike="noStrike">
              <a:solidFill>
                <a:schemeClr val="dk1"/>
              </a:solidFill>
              <a:latin typeface="Calibri"/>
              <a:ea typeface="Calibri"/>
              <a:cs typeface="Calibri"/>
              <a:sym typeface="Calibri"/>
            </a:endParaRPr>
          </a:p>
          <a:p>
            <a:pPr indent="-342900" lvl="0" marL="342900" marR="0" rtl="0" algn="l">
              <a:lnSpc>
                <a:spcPct val="141666"/>
              </a:lnSpc>
              <a:spcBef>
                <a:spcPts val="800"/>
              </a:spcBef>
              <a:spcAft>
                <a:spcPts val="0"/>
              </a:spcAft>
              <a:buClr>
                <a:srgbClr val="2B2422"/>
              </a:buClr>
              <a:buSzPts val="1200"/>
              <a:buFont typeface="Calibri"/>
              <a:buChar char="•"/>
            </a:pPr>
            <a:r>
              <a:rPr b="0" i="0" lang="en-US" sz="1200" u="none" cap="none" strike="noStrike">
                <a:solidFill>
                  <a:srgbClr val="2B2422"/>
                </a:solidFill>
                <a:latin typeface="Calibri"/>
                <a:ea typeface="Calibri"/>
                <a:cs typeface="Calibri"/>
                <a:sym typeface="Calibri"/>
              </a:rPr>
              <a:t>from the Kenyan baseline.</a:t>
            </a:r>
            <a:endParaRPr b="0" i="0" sz="1200" u="none" cap="none" strike="noStrike">
              <a:solidFill>
                <a:schemeClr val="dk1"/>
              </a:solidFill>
              <a:latin typeface="Calibri"/>
              <a:ea typeface="Calibri"/>
              <a:cs typeface="Calibri"/>
              <a:sym typeface="Calibri"/>
            </a:endParaRPr>
          </a:p>
        </p:txBody>
      </p:sp>
      <p:sp>
        <p:nvSpPr>
          <p:cNvPr id="124" name="Google Shape;124;p5"/>
          <p:cNvSpPr/>
          <p:nvPr/>
        </p:nvSpPr>
        <p:spPr>
          <a:xfrm>
            <a:off x="8180080" y="1828800"/>
            <a:ext cx="3450000" cy="3900000"/>
          </a:xfrm>
          <a:prstGeom prst="roundRect">
            <a:avLst>
              <a:gd fmla="val 3380" name="adj"/>
            </a:avLst>
          </a:prstGeom>
          <a:solidFill>
            <a:srgbClr val="F0EFE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5" name="Google Shape;125;p5"/>
          <p:cNvSpPr/>
          <p:nvPr/>
        </p:nvSpPr>
        <p:spPr>
          <a:xfrm>
            <a:off x="8500120" y="2121408"/>
            <a:ext cx="420624" cy="420624"/>
          </a:xfrm>
          <a:prstGeom prst="ellipse">
            <a:avLst/>
          </a:prstGeom>
          <a:solidFill>
            <a:srgbClr val="C3912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6" name="Google Shape;126;p5"/>
          <p:cNvSpPr/>
          <p:nvPr/>
        </p:nvSpPr>
        <p:spPr>
          <a:xfrm>
            <a:off x="8500120" y="2167128"/>
            <a:ext cx="420624" cy="347472"/>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800"/>
              <a:buFont typeface="Cambria"/>
              <a:buNone/>
            </a:pPr>
            <a:r>
              <a:rPr b="1" i="0" lang="en-US" sz="1800" u="none" cap="none" strike="noStrike">
                <a:solidFill>
                  <a:srgbClr val="FFFFFF"/>
                </a:solidFill>
                <a:latin typeface="Cambria"/>
                <a:ea typeface="Cambria"/>
                <a:cs typeface="Cambria"/>
                <a:sym typeface="Cambria"/>
              </a:rPr>
              <a:t>3</a:t>
            </a:r>
            <a:endParaRPr b="0" i="0" sz="1800" u="none" cap="none" strike="noStrike">
              <a:solidFill>
                <a:schemeClr val="dk1"/>
              </a:solidFill>
              <a:latin typeface="Calibri"/>
              <a:ea typeface="Calibri"/>
              <a:cs typeface="Calibri"/>
              <a:sym typeface="Calibri"/>
            </a:endParaRPr>
          </a:p>
        </p:txBody>
      </p:sp>
      <p:sp>
        <p:nvSpPr>
          <p:cNvPr id="127" name="Google Shape;127;p5"/>
          <p:cNvSpPr/>
          <p:nvPr/>
        </p:nvSpPr>
        <p:spPr>
          <a:xfrm>
            <a:off x="9076192" y="2103120"/>
            <a:ext cx="2253888" cy="3657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B2422"/>
              </a:buClr>
              <a:buSzPts val="2400"/>
              <a:buFont typeface="Cambria"/>
              <a:buNone/>
            </a:pPr>
            <a:r>
              <a:rPr b="1" i="0" lang="en-US" sz="2400" u="none" cap="none" strike="noStrike">
                <a:solidFill>
                  <a:srgbClr val="2B2422"/>
                </a:solidFill>
                <a:latin typeface="Cambria"/>
                <a:ea typeface="Cambria"/>
                <a:cs typeface="Cambria"/>
                <a:sym typeface="Cambria"/>
              </a:rPr>
              <a:t>Kin</a:t>
            </a:r>
            <a:r>
              <a:rPr b="1" lang="en-US" sz="2400">
                <a:solidFill>
                  <a:srgbClr val="2B2422"/>
                </a:solidFill>
                <a:latin typeface="Cambria"/>
                <a:ea typeface="Cambria"/>
                <a:cs typeface="Cambria"/>
                <a:sym typeface="Cambria"/>
              </a:rPr>
              <a:t>gw</a:t>
            </a:r>
            <a:r>
              <a:rPr b="1" i="0" lang="en-US" sz="2400" u="none" cap="none" strike="noStrike">
                <a:solidFill>
                  <a:srgbClr val="2B2422"/>
                </a:solidFill>
                <a:latin typeface="Cambria"/>
                <a:ea typeface="Cambria"/>
                <a:cs typeface="Cambria"/>
                <a:sym typeface="Cambria"/>
              </a:rPr>
              <a:t>ana</a:t>
            </a:r>
            <a:endParaRPr b="0" i="0" sz="2400" u="none" cap="none" strike="noStrike">
              <a:solidFill>
                <a:schemeClr val="dk1"/>
              </a:solidFill>
              <a:latin typeface="Calibri"/>
              <a:ea typeface="Calibri"/>
              <a:cs typeface="Calibri"/>
              <a:sym typeface="Calibri"/>
            </a:endParaRPr>
          </a:p>
        </p:txBody>
      </p:sp>
      <p:sp>
        <p:nvSpPr>
          <p:cNvPr id="128" name="Google Shape;128;p5"/>
          <p:cNvSpPr/>
          <p:nvPr/>
        </p:nvSpPr>
        <p:spPr>
          <a:xfrm>
            <a:off x="9076192" y="2487168"/>
            <a:ext cx="2253888"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7E9C8C"/>
              </a:buClr>
              <a:buSzPts val="1200"/>
              <a:buFont typeface="Calibri"/>
              <a:buNone/>
            </a:pPr>
            <a:r>
              <a:rPr b="0" i="1" lang="en-US" sz="1200" u="none" cap="none" strike="noStrike">
                <a:solidFill>
                  <a:srgbClr val="7E9C8C"/>
                </a:solidFill>
                <a:latin typeface="Calibri"/>
                <a:ea typeface="Calibri"/>
                <a:cs typeface="Calibri"/>
                <a:sym typeface="Calibri"/>
              </a:rPr>
              <a:t>DR Congo, Bukavu and Goma</a:t>
            </a:r>
            <a:endParaRPr b="0" i="0" sz="1200" u="none" cap="none" strike="noStrike">
              <a:solidFill>
                <a:schemeClr val="dk1"/>
              </a:solidFill>
              <a:latin typeface="Calibri"/>
              <a:ea typeface="Calibri"/>
              <a:cs typeface="Calibri"/>
              <a:sym typeface="Calibri"/>
            </a:endParaRPr>
          </a:p>
        </p:txBody>
      </p:sp>
      <p:sp>
        <p:nvSpPr>
          <p:cNvPr id="129" name="Google Shape;129;p5"/>
          <p:cNvSpPr/>
          <p:nvPr/>
        </p:nvSpPr>
        <p:spPr>
          <a:xfrm>
            <a:off x="8545840" y="2926080"/>
            <a:ext cx="2784240" cy="2652720"/>
          </a:xfrm>
          <a:prstGeom prst="rect">
            <a:avLst/>
          </a:prstGeom>
          <a:noFill/>
          <a:ln>
            <a:noFill/>
          </a:ln>
        </p:spPr>
        <p:txBody>
          <a:bodyPr anchorCtr="0" anchor="ctr" bIns="0" lIns="0" spcFirstLastPara="1" rIns="0" wrap="square" tIns="0">
            <a:noAutofit/>
          </a:bodyPr>
          <a:lstStyle/>
          <a:p>
            <a:pPr indent="-342900" lvl="0" marL="342900" marR="0" rtl="0" algn="l">
              <a:lnSpc>
                <a:spcPct val="141666"/>
              </a:lnSpc>
              <a:spcBef>
                <a:spcPts val="0"/>
              </a:spcBef>
              <a:spcAft>
                <a:spcPts val="0"/>
              </a:spcAft>
              <a:buClr>
                <a:srgbClr val="2B2422"/>
              </a:buClr>
              <a:buSzPts val="1200"/>
              <a:buFont typeface="Calibri"/>
              <a:buChar char="•"/>
            </a:pPr>
            <a:r>
              <a:rPr b="0" i="0" lang="en-US" sz="1200" u="none" cap="none" strike="noStrike">
                <a:solidFill>
                  <a:srgbClr val="2B2422"/>
                </a:solidFill>
                <a:latin typeface="Calibri"/>
                <a:ea typeface="Calibri"/>
                <a:cs typeface="Calibri"/>
                <a:sym typeface="Calibri"/>
              </a:rPr>
              <a:t>Recorded directly from a</a:t>
            </a:r>
            <a:endParaRPr b="0" i="0" sz="1200" u="none" cap="none" strike="noStrike">
              <a:solidFill>
                <a:schemeClr val="dk1"/>
              </a:solidFill>
              <a:latin typeface="Calibri"/>
              <a:ea typeface="Calibri"/>
              <a:cs typeface="Calibri"/>
              <a:sym typeface="Calibri"/>
            </a:endParaRPr>
          </a:p>
          <a:p>
            <a:pPr indent="-342900" lvl="0" marL="342900" marR="0" rtl="0" algn="l">
              <a:lnSpc>
                <a:spcPct val="141666"/>
              </a:lnSpc>
              <a:spcBef>
                <a:spcPts val="800"/>
              </a:spcBef>
              <a:spcAft>
                <a:spcPts val="0"/>
              </a:spcAft>
              <a:buClr>
                <a:srgbClr val="2B2422"/>
              </a:buClr>
              <a:buSzPts val="1200"/>
              <a:buFont typeface="Calibri"/>
              <a:buChar char="•"/>
            </a:pPr>
            <a:r>
              <a:rPr b="0" i="0" lang="en-US" sz="1200" u="none" cap="none" strike="noStrike">
                <a:solidFill>
                  <a:srgbClr val="2B2422"/>
                </a:solidFill>
                <a:latin typeface="Calibri"/>
                <a:ea typeface="Calibri"/>
                <a:cs typeface="Calibri"/>
                <a:sym typeface="Calibri"/>
              </a:rPr>
              <a:t>native speaker of Kin</a:t>
            </a:r>
            <a:r>
              <a:rPr lang="en-US" sz="1200">
                <a:solidFill>
                  <a:srgbClr val="2B2422"/>
                </a:solidFill>
                <a:latin typeface="Calibri"/>
                <a:ea typeface="Calibri"/>
                <a:cs typeface="Calibri"/>
                <a:sym typeface="Calibri"/>
              </a:rPr>
              <a:t>gw</a:t>
            </a:r>
            <a:r>
              <a:rPr b="0" i="0" lang="en-US" sz="1200" u="none" cap="none" strike="noStrike">
                <a:solidFill>
                  <a:srgbClr val="2B2422"/>
                </a:solidFill>
                <a:latin typeface="Calibri"/>
                <a:ea typeface="Calibri"/>
                <a:cs typeface="Calibri"/>
                <a:sym typeface="Calibri"/>
              </a:rPr>
              <a:t>ana,</a:t>
            </a:r>
            <a:endParaRPr b="0" i="0" sz="1200" u="none" cap="none" strike="noStrike">
              <a:solidFill>
                <a:schemeClr val="dk1"/>
              </a:solidFill>
              <a:latin typeface="Calibri"/>
              <a:ea typeface="Calibri"/>
              <a:cs typeface="Calibri"/>
              <a:sym typeface="Calibri"/>
            </a:endParaRPr>
          </a:p>
          <a:p>
            <a:pPr indent="-342900" lvl="0" marL="342900" marR="0" rtl="0" algn="l">
              <a:lnSpc>
                <a:spcPct val="141666"/>
              </a:lnSpc>
              <a:spcBef>
                <a:spcPts val="800"/>
              </a:spcBef>
              <a:spcAft>
                <a:spcPts val="0"/>
              </a:spcAft>
              <a:buClr>
                <a:srgbClr val="2B2422"/>
              </a:buClr>
              <a:buSzPts val="1200"/>
              <a:buFont typeface="Calibri"/>
              <a:buChar char="•"/>
            </a:pPr>
            <a:r>
              <a:rPr b="0" i="0" lang="en-US" sz="1200" u="none" cap="none" strike="noStrike">
                <a:solidFill>
                  <a:srgbClr val="2B2422"/>
                </a:solidFill>
                <a:latin typeface="Calibri"/>
                <a:ea typeface="Calibri"/>
                <a:cs typeface="Calibri"/>
                <a:sym typeface="Calibri"/>
              </a:rPr>
              <a:t>the Swahili-based variety</a:t>
            </a:r>
            <a:endParaRPr b="0" i="0" sz="1200" u="none" cap="none" strike="noStrike">
              <a:solidFill>
                <a:schemeClr val="dk1"/>
              </a:solidFill>
              <a:latin typeface="Calibri"/>
              <a:ea typeface="Calibri"/>
              <a:cs typeface="Calibri"/>
              <a:sym typeface="Calibri"/>
            </a:endParaRPr>
          </a:p>
          <a:p>
            <a:pPr indent="-342900" lvl="0" marL="342900" marR="0" rtl="0" algn="l">
              <a:lnSpc>
                <a:spcPct val="141666"/>
              </a:lnSpc>
              <a:spcBef>
                <a:spcPts val="800"/>
              </a:spcBef>
              <a:spcAft>
                <a:spcPts val="0"/>
              </a:spcAft>
              <a:buClr>
                <a:srgbClr val="2B2422"/>
              </a:buClr>
              <a:buSzPts val="1200"/>
              <a:buFont typeface="Calibri"/>
              <a:buChar char="•"/>
            </a:pPr>
            <a:r>
              <a:rPr b="0" i="0" lang="en-US" sz="1200" u="none" cap="none" strike="noStrike">
                <a:solidFill>
                  <a:srgbClr val="2B2422"/>
                </a:solidFill>
                <a:latin typeface="Calibri"/>
                <a:ea typeface="Calibri"/>
                <a:cs typeface="Calibri"/>
                <a:sym typeface="Calibri"/>
              </a:rPr>
              <a:t>spoken in eastern DR Congo,</a:t>
            </a:r>
            <a:endParaRPr b="0" i="0" sz="1200" u="none" cap="none" strike="noStrike">
              <a:solidFill>
                <a:schemeClr val="dk1"/>
              </a:solidFill>
              <a:latin typeface="Calibri"/>
              <a:ea typeface="Calibri"/>
              <a:cs typeface="Calibri"/>
              <a:sym typeface="Calibri"/>
            </a:endParaRPr>
          </a:p>
          <a:p>
            <a:pPr indent="-342900" lvl="0" marL="342900" marR="0" rtl="0" algn="l">
              <a:lnSpc>
                <a:spcPct val="141666"/>
              </a:lnSpc>
              <a:spcBef>
                <a:spcPts val="800"/>
              </a:spcBef>
              <a:spcAft>
                <a:spcPts val="0"/>
              </a:spcAft>
              <a:buClr>
                <a:srgbClr val="2B2422"/>
              </a:buClr>
              <a:buSzPts val="1200"/>
              <a:buFont typeface="Calibri"/>
              <a:buChar char="•"/>
            </a:pPr>
            <a:r>
              <a:rPr b="0" i="0" lang="en-US" sz="1200" u="none" cap="none" strike="noStrike">
                <a:solidFill>
                  <a:srgbClr val="2B2422"/>
                </a:solidFill>
                <a:latin typeface="Calibri"/>
                <a:ea typeface="Calibri"/>
                <a:cs typeface="Calibri"/>
                <a:sym typeface="Calibri"/>
              </a:rPr>
              <a:t>the least resourced of the three.</a:t>
            </a:r>
            <a:endParaRPr b="0" i="0" sz="1200" u="none" cap="none" strike="noStrike">
              <a:solidFill>
                <a:schemeClr val="dk1"/>
              </a:solidFill>
              <a:latin typeface="Calibri"/>
              <a:ea typeface="Calibri"/>
              <a:cs typeface="Calibri"/>
              <a:sym typeface="Calibri"/>
            </a:endParaRPr>
          </a:p>
        </p:txBody>
      </p:sp>
      <p:sp>
        <p:nvSpPr>
          <p:cNvPr id="130" name="Google Shape;130;p5"/>
          <p:cNvSpPr/>
          <p:nvPr/>
        </p:nvSpPr>
        <p:spPr>
          <a:xfrm>
            <a:off x="658368" y="6100000"/>
            <a:ext cx="10789920" cy="457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B2422"/>
              </a:buClr>
              <a:buSzPts val="1300"/>
              <a:buFont typeface="Calibri"/>
              <a:buNone/>
            </a:pPr>
            <a:r>
              <a:rPr b="1" i="0" lang="en-US" sz="1300" u="none" cap="none" strike="noStrike">
                <a:solidFill>
                  <a:srgbClr val="2B2422"/>
                </a:solidFill>
                <a:latin typeface="Calibri"/>
                <a:ea typeface="Calibri"/>
                <a:cs typeface="Calibri"/>
                <a:sym typeface="Calibri"/>
              </a:rPr>
              <a:t>This is the low-resourceness the challenge asks for: not one underrepresented language, but a chain of underrepresented varieties within it. planning to do the same for </a:t>
            </a:r>
            <a:r>
              <a:rPr b="1" lang="en-US" sz="1300">
                <a:solidFill>
                  <a:srgbClr val="2B2422"/>
                </a:solidFill>
                <a:latin typeface="Calibri"/>
                <a:ea typeface="Calibri"/>
                <a:cs typeface="Calibri"/>
                <a:sym typeface="Calibri"/>
              </a:rPr>
              <a:t>Yoruba. </a:t>
            </a:r>
            <a:endParaRPr b="0" i="0" sz="1300" u="none" cap="none" strike="noStrike">
              <a:solidFill>
                <a:schemeClr val="dk1"/>
              </a:solidFill>
              <a:latin typeface="Calibri"/>
              <a:ea typeface="Calibri"/>
              <a:cs typeface="Calibri"/>
              <a:sym typeface="Calibri"/>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34" name="Shape 134"/>
        <p:cNvGrpSpPr/>
        <p:nvPr/>
      </p:nvGrpSpPr>
      <p:grpSpPr>
        <a:xfrm>
          <a:off x="0" y="0"/>
          <a:ext cx="0" cy="0"/>
          <a:chOff x="0" y="0"/>
          <a:chExt cx="0" cy="0"/>
        </a:xfrm>
      </p:grpSpPr>
      <p:sp>
        <p:nvSpPr>
          <p:cNvPr id="135" name="Google Shape;135;p6"/>
          <p:cNvSpPr/>
          <p:nvPr/>
        </p:nvSpPr>
        <p:spPr>
          <a:xfrm>
            <a:off x="640080" y="502920"/>
            <a:ext cx="10911840" cy="6400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B2422"/>
              </a:buClr>
              <a:buSzPts val="4000"/>
              <a:buFont typeface="Cambria"/>
              <a:buNone/>
            </a:pPr>
            <a:r>
              <a:rPr b="1" i="0" lang="en-US" sz="4000" u="none" cap="none" strike="noStrike">
                <a:solidFill>
                  <a:srgbClr val="2B2422"/>
                </a:solidFill>
                <a:latin typeface="Cambria"/>
                <a:ea typeface="Cambria"/>
                <a:cs typeface="Cambria"/>
                <a:sym typeface="Cambria"/>
              </a:rPr>
              <a:t>How Ntina answers the challenge criteria</a:t>
            </a:r>
            <a:endParaRPr b="0" i="0" sz="4000" u="none" cap="none" strike="noStrike">
              <a:solidFill>
                <a:schemeClr val="dk1"/>
              </a:solidFill>
              <a:latin typeface="Calibri"/>
              <a:ea typeface="Calibri"/>
              <a:cs typeface="Calibri"/>
              <a:sym typeface="Calibri"/>
            </a:endParaRPr>
          </a:p>
        </p:txBody>
      </p:sp>
      <p:sp>
        <p:nvSpPr>
          <p:cNvPr id="136" name="Google Shape;136;p6"/>
          <p:cNvSpPr/>
          <p:nvPr/>
        </p:nvSpPr>
        <p:spPr>
          <a:xfrm>
            <a:off x="640080" y="1828800"/>
            <a:ext cx="5295920" cy="2300000"/>
          </a:xfrm>
          <a:prstGeom prst="roundRect">
            <a:avLst>
              <a:gd fmla="val 3380" name="adj"/>
            </a:avLst>
          </a:prstGeom>
          <a:solidFill>
            <a:srgbClr val="F0EFE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7" name="Google Shape;137;p6"/>
          <p:cNvSpPr/>
          <p:nvPr/>
        </p:nvSpPr>
        <p:spPr>
          <a:xfrm>
            <a:off x="960120" y="2121408"/>
            <a:ext cx="420624" cy="420624"/>
          </a:xfrm>
          <a:prstGeom prst="ellipse">
            <a:avLst/>
          </a:prstGeom>
          <a:solidFill>
            <a:srgbClr val="B8504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8" name="Google Shape;138;p6"/>
          <p:cNvSpPr/>
          <p:nvPr/>
        </p:nvSpPr>
        <p:spPr>
          <a:xfrm>
            <a:off x="960120" y="2167128"/>
            <a:ext cx="420624" cy="347472"/>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800"/>
              <a:buFont typeface="Cambria"/>
              <a:buNone/>
            </a:pPr>
            <a:r>
              <a:rPr b="1" i="0" lang="en-US" sz="1800" u="none" cap="none" strike="noStrike">
                <a:solidFill>
                  <a:srgbClr val="FFFFFF"/>
                </a:solidFill>
                <a:latin typeface="Cambria"/>
                <a:ea typeface="Cambria"/>
                <a:cs typeface="Cambria"/>
                <a:sym typeface="Cambria"/>
              </a:rPr>
              <a:t>1</a:t>
            </a:r>
            <a:endParaRPr b="0" i="0" sz="1800" u="none" cap="none" strike="noStrike">
              <a:solidFill>
                <a:schemeClr val="dk1"/>
              </a:solidFill>
              <a:latin typeface="Calibri"/>
              <a:ea typeface="Calibri"/>
              <a:cs typeface="Calibri"/>
              <a:sym typeface="Calibri"/>
            </a:endParaRPr>
          </a:p>
        </p:txBody>
      </p:sp>
      <p:sp>
        <p:nvSpPr>
          <p:cNvPr id="139" name="Google Shape;139;p6"/>
          <p:cNvSpPr/>
          <p:nvPr/>
        </p:nvSpPr>
        <p:spPr>
          <a:xfrm>
            <a:off x="1536192" y="2103120"/>
            <a:ext cx="4099808" cy="3657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B2422"/>
              </a:buClr>
              <a:buSzPts val="2400"/>
              <a:buFont typeface="Cambria"/>
              <a:buNone/>
            </a:pPr>
            <a:r>
              <a:rPr b="1" i="0" lang="en-US" sz="2400" u="none" cap="none" strike="noStrike">
                <a:solidFill>
                  <a:srgbClr val="2B2422"/>
                </a:solidFill>
                <a:latin typeface="Cambria"/>
                <a:ea typeface="Cambria"/>
                <a:cs typeface="Cambria"/>
                <a:sym typeface="Cambria"/>
              </a:rPr>
              <a:t>Low-resourceness</a:t>
            </a:r>
            <a:endParaRPr b="0" i="0" sz="2400" u="none" cap="none" strike="noStrike">
              <a:solidFill>
                <a:schemeClr val="dk1"/>
              </a:solidFill>
              <a:latin typeface="Calibri"/>
              <a:ea typeface="Calibri"/>
              <a:cs typeface="Calibri"/>
              <a:sym typeface="Calibri"/>
            </a:endParaRPr>
          </a:p>
        </p:txBody>
      </p:sp>
      <p:sp>
        <p:nvSpPr>
          <p:cNvPr id="140" name="Google Shape;140;p6"/>
          <p:cNvSpPr/>
          <p:nvPr/>
        </p:nvSpPr>
        <p:spPr>
          <a:xfrm>
            <a:off x="1536192" y="2487168"/>
            <a:ext cx="4099808"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7E9C8C"/>
              </a:buClr>
              <a:buSzPts val="1200"/>
              <a:buFont typeface="Calibri"/>
              <a:buNone/>
            </a:pPr>
            <a:r>
              <a:rPr b="0" i="1" lang="en-US" sz="1200" u="none" cap="none" strike="noStrike">
                <a:solidFill>
                  <a:srgbClr val="7E9C8C"/>
                </a:solidFill>
                <a:latin typeface="Calibri"/>
                <a:ea typeface="Calibri"/>
                <a:cs typeface="Calibri"/>
                <a:sym typeface="Calibri"/>
              </a:rPr>
              <a:t>Adapting an underrepresented pair</a:t>
            </a:r>
            <a:endParaRPr b="0" i="0" sz="1200" u="none" cap="none" strike="noStrike">
              <a:solidFill>
                <a:schemeClr val="dk1"/>
              </a:solidFill>
              <a:latin typeface="Calibri"/>
              <a:ea typeface="Calibri"/>
              <a:cs typeface="Calibri"/>
              <a:sym typeface="Calibri"/>
            </a:endParaRPr>
          </a:p>
        </p:txBody>
      </p:sp>
      <p:sp>
        <p:nvSpPr>
          <p:cNvPr id="141" name="Google Shape;141;p6"/>
          <p:cNvSpPr/>
          <p:nvPr/>
        </p:nvSpPr>
        <p:spPr>
          <a:xfrm>
            <a:off x="1005840" y="2926080"/>
            <a:ext cx="4630160" cy="1052720"/>
          </a:xfrm>
          <a:prstGeom prst="rect">
            <a:avLst/>
          </a:prstGeom>
          <a:noFill/>
          <a:ln>
            <a:noFill/>
          </a:ln>
        </p:spPr>
        <p:txBody>
          <a:bodyPr anchorCtr="0" anchor="ctr" bIns="0" lIns="0" spcFirstLastPara="1" rIns="0" wrap="square" tIns="0">
            <a:noAutofit/>
          </a:bodyPr>
          <a:lstStyle/>
          <a:p>
            <a:pPr indent="-342900" lvl="0" marL="342900" marR="0" rtl="0" algn="l">
              <a:lnSpc>
                <a:spcPct val="141666"/>
              </a:lnSpc>
              <a:spcBef>
                <a:spcPts val="0"/>
              </a:spcBef>
              <a:spcAft>
                <a:spcPts val="0"/>
              </a:spcAft>
              <a:buClr>
                <a:srgbClr val="2B2422"/>
              </a:buClr>
              <a:buSzPts val="1200"/>
              <a:buFont typeface="Calibri"/>
              <a:buChar char="•"/>
            </a:pPr>
            <a:r>
              <a:rPr b="0" i="0" lang="en-US" sz="1200" u="none" cap="none" strike="noStrike">
                <a:solidFill>
                  <a:srgbClr val="2B2422"/>
                </a:solidFill>
                <a:latin typeface="Calibri"/>
                <a:ea typeface="Calibri"/>
                <a:cs typeface="Calibri"/>
                <a:sym typeface="Calibri"/>
              </a:rPr>
              <a:t>Two full language pairs, Swahili-English and Yoruba-English, each spanning real regional varieties rather than one clean reference dialect (see the adaptation slide).</a:t>
            </a:r>
            <a:endParaRPr b="0" i="0" sz="1200" u="none" cap="none" strike="noStrike">
              <a:solidFill>
                <a:schemeClr val="dk1"/>
              </a:solidFill>
              <a:latin typeface="Calibri"/>
              <a:ea typeface="Calibri"/>
              <a:cs typeface="Calibri"/>
              <a:sym typeface="Calibri"/>
            </a:endParaRPr>
          </a:p>
        </p:txBody>
      </p:sp>
      <p:sp>
        <p:nvSpPr>
          <p:cNvPr id="142" name="Google Shape;142;p6"/>
          <p:cNvSpPr/>
          <p:nvPr/>
        </p:nvSpPr>
        <p:spPr>
          <a:xfrm>
            <a:off x="6256000" y="1828800"/>
            <a:ext cx="5295920" cy="2300000"/>
          </a:xfrm>
          <a:prstGeom prst="roundRect">
            <a:avLst>
              <a:gd fmla="val 3380" name="adj"/>
            </a:avLst>
          </a:prstGeom>
          <a:solidFill>
            <a:srgbClr val="F0EFE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3" name="Google Shape;143;p6"/>
          <p:cNvSpPr/>
          <p:nvPr/>
        </p:nvSpPr>
        <p:spPr>
          <a:xfrm>
            <a:off x="6576040" y="2121408"/>
            <a:ext cx="420624" cy="420624"/>
          </a:xfrm>
          <a:prstGeom prst="ellipse">
            <a:avLst/>
          </a:prstGeom>
          <a:solidFill>
            <a:srgbClr val="7E9C8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4" name="Google Shape;144;p6"/>
          <p:cNvSpPr/>
          <p:nvPr/>
        </p:nvSpPr>
        <p:spPr>
          <a:xfrm>
            <a:off x="6576040" y="2167128"/>
            <a:ext cx="420624" cy="347472"/>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800"/>
              <a:buFont typeface="Cambria"/>
              <a:buNone/>
            </a:pPr>
            <a:r>
              <a:rPr b="1" i="0" lang="en-US" sz="1800" u="none" cap="none" strike="noStrike">
                <a:solidFill>
                  <a:srgbClr val="FFFFFF"/>
                </a:solidFill>
                <a:latin typeface="Cambria"/>
                <a:ea typeface="Cambria"/>
                <a:cs typeface="Cambria"/>
                <a:sym typeface="Cambria"/>
              </a:rPr>
              <a:t>2</a:t>
            </a:r>
            <a:endParaRPr b="0" i="0" sz="1800" u="none" cap="none" strike="noStrike">
              <a:solidFill>
                <a:schemeClr val="dk1"/>
              </a:solidFill>
              <a:latin typeface="Calibri"/>
              <a:ea typeface="Calibri"/>
              <a:cs typeface="Calibri"/>
              <a:sym typeface="Calibri"/>
            </a:endParaRPr>
          </a:p>
        </p:txBody>
      </p:sp>
      <p:sp>
        <p:nvSpPr>
          <p:cNvPr id="145" name="Google Shape;145;p6"/>
          <p:cNvSpPr/>
          <p:nvPr/>
        </p:nvSpPr>
        <p:spPr>
          <a:xfrm>
            <a:off x="7152112" y="2103120"/>
            <a:ext cx="4099808" cy="3657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B2422"/>
              </a:buClr>
              <a:buSzPts val="2400"/>
              <a:buFont typeface="Cambria"/>
              <a:buNone/>
            </a:pPr>
            <a:r>
              <a:rPr b="1" i="0" lang="en-US" sz="2400" u="none" cap="none" strike="noStrike">
                <a:solidFill>
                  <a:srgbClr val="2B2422"/>
                </a:solidFill>
                <a:latin typeface="Cambria"/>
                <a:ea typeface="Cambria"/>
                <a:cs typeface="Cambria"/>
                <a:sym typeface="Cambria"/>
              </a:rPr>
              <a:t>Creativity</a:t>
            </a:r>
            <a:endParaRPr b="0" i="0" sz="2400" u="none" cap="none" strike="noStrike">
              <a:solidFill>
                <a:schemeClr val="dk1"/>
              </a:solidFill>
              <a:latin typeface="Calibri"/>
              <a:ea typeface="Calibri"/>
              <a:cs typeface="Calibri"/>
              <a:sym typeface="Calibri"/>
            </a:endParaRPr>
          </a:p>
        </p:txBody>
      </p:sp>
      <p:sp>
        <p:nvSpPr>
          <p:cNvPr id="146" name="Google Shape;146;p6"/>
          <p:cNvSpPr/>
          <p:nvPr/>
        </p:nvSpPr>
        <p:spPr>
          <a:xfrm>
            <a:off x="7152112" y="2487168"/>
            <a:ext cx="4099808"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7E9C8C"/>
              </a:buClr>
              <a:buSzPts val="1200"/>
              <a:buFont typeface="Calibri"/>
              <a:buNone/>
            </a:pPr>
            <a:r>
              <a:rPr b="0" i="1" lang="en-US" sz="1200" u="none" cap="none" strike="noStrike">
                <a:solidFill>
                  <a:srgbClr val="7E9C8C"/>
                </a:solidFill>
                <a:latin typeface="Calibri"/>
                <a:ea typeface="Calibri"/>
                <a:cs typeface="Calibri"/>
                <a:sym typeface="Calibri"/>
              </a:rPr>
              <a:t>Africa-centred linguistic properties</a:t>
            </a:r>
            <a:endParaRPr b="0" i="0" sz="1200" u="none" cap="none" strike="noStrike">
              <a:solidFill>
                <a:schemeClr val="dk1"/>
              </a:solidFill>
              <a:latin typeface="Calibri"/>
              <a:ea typeface="Calibri"/>
              <a:cs typeface="Calibri"/>
              <a:sym typeface="Calibri"/>
            </a:endParaRPr>
          </a:p>
        </p:txBody>
      </p:sp>
      <p:sp>
        <p:nvSpPr>
          <p:cNvPr id="147" name="Google Shape;147;p6"/>
          <p:cNvSpPr/>
          <p:nvPr/>
        </p:nvSpPr>
        <p:spPr>
          <a:xfrm>
            <a:off x="6621760" y="2926080"/>
            <a:ext cx="4630160" cy="1052720"/>
          </a:xfrm>
          <a:prstGeom prst="rect">
            <a:avLst/>
          </a:prstGeom>
          <a:noFill/>
          <a:ln>
            <a:noFill/>
          </a:ln>
        </p:spPr>
        <p:txBody>
          <a:bodyPr anchorCtr="0" anchor="ctr" bIns="0" lIns="0" spcFirstLastPara="1" rIns="0" wrap="square" tIns="0">
            <a:noAutofit/>
          </a:bodyPr>
          <a:lstStyle/>
          <a:p>
            <a:pPr indent="-342900" lvl="0" marL="342900" marR="0" rtl="0" algn="l">
              <a:lnSpc>
                <a:spcPct val="141666"/>
              </a:lnSpc>
              <a:spcBef>
                <a:spcPts val="0"/>
              </a:spcBef>
              <a:spcAft>
                <a:spcPts val="0"/>
              </a:spcAft>
              <a:buClr>
                <a:srgbClr val="2B2422"/>
              </a:buClr>
              <a:buSzPts val="1200"/>
              <a:buFont typeface="Calibri"/>
              <a:buChar char="•"/>
            </a:pPr>
            <a:r>
              <a:rPr b="0" i="0" lang="en-US" sz="1200" u="none" cap="none" strike="noStrike">
                <a:solidFill>
                  <a:srgbClr val="2B2422"/>
                </a:solidFill>
                <a:latin typeface="Calibri"/>
                <a:ea typeface="Calibri"/>
                <a:cs typeface="Calibri"/>
                <a:sym typeface="Calibri"/>
              </a:rPr>
              <a:t>Yoruba's three-way tone contrast and subdot phonemes, Swahili's noun-class-driven syllable frequency, and code-switching kept monolingual inside the reading test but alive in everything the tutor says around it.</a:t>
            </a:r>
            <a:endParaRPr b="0" i="0" sz="1200" u="none" cap="none" strike="noStrike">
              <a:solidFill>
                <a:schemeClr val="dk1"/>
              </a:solidFill>
              <a:latin typeface="Calibri"/>
              <a:ea typeface="Calibri"/>
              <a:cs typeface="Calibri"/>
              <a:sym typeface="Calibri"/>
            </a:endParaRPr>
          </a:p>
        </p:txBody>
      </p:sp>
      <p:sp>
        <p:nvSpPr>
          <p:cNvPr id="148" name="Google Shape;148;p6"/>
          <p:cNvSpPr/>
          <p:nvPr/>
        </p:nvSpPr>
        <p:spPr>
          <a:xfrm>
            <a:off x="640080" y="4328800"/>
            <a:ext cx="5295920" cy="2300000"/>
          </a:xfrm>
          <a:prstGeom prst="roundRect">
            <a:avLst>
              <a:gd fmla="val 3380" name="adj"/>
            </a:avLst>
          </a:prstGeom>
          <a:solidFill>
            <a:srgbClr val="F0EFE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9" name="Google Shape;149;p6"/>
          <p:cNvSpPr/>
          <p:nvPr/>
        </p:nvSpPr>
        <p:spPr>
          <a:xfrm>
            <a:off x="960120" y="4621408"/>
            <a:ext cx="420624" cy="420624"/>
          </a:xfrm>
          <a:prstGeom prst="ellipse">
            <a:avLst/>
          </a:prstGeom>
          <a:solidFill>
            <a:srgbClr val="C3912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0" name="Google Shape;150;p6"/>
          <p:cNvSpPr/>
          <p:nvPr/>
        </p:nvSpPr>
        <p:spPr>
          <a:xfrm>
            <a:off x="960120" y="4667128"/>
            <a:ext cx="420624" cy="347472"/>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800"/>
              <a:buFont typeface="Cambria"/>
              <a:buNone/>
            </a:pPr>
            <a:r>
              <a:rPr b="1" i="0" lang="en-US" sz="1800" u="none" cap="none" strike="noStrike">
                <a:solidFill>
                  <a:srgbClr val="FFFFFF"/>
                </a:solidFill>
                <a:latin typeface="Cambria"/>
                <a:ea typeface="Cambria"/>
                <a:cs typeface="Cambria"/>
                <a:sym typeface="Cambria"/>
              </a:rPr>
              <a:t>3</a:t>
            </a:r>
            <a:endParaRPr b="0" i="0" sz="1800" u="none" cap="none" strike="noStrike">
              <a:solidFill>
                <a:schemeClr val="dk1"/>
              </a:solidFill>
              <a:latin typeface="Calibri"/>
              <a:ea typeface="Calibri"/>
              <a:cs typeface="Calibri"/>
              <a:sym typeface="Calibri"/>
            </a:endParaRPr>
          </a:p>
        </p:txBody>
      </p:sp>
      <p:sp>
        <p:nvSpPr>
          <p:cNvPr id="151" name="Google Shape;151;p6"/>
          <p:cNvSpPr/>
          <p:nvPr/>
        </p:nvSpPr>
        <p:spPr>
          <a:xfrm>
            <a:off x="1536192" y="4603120"/>
            <a:ext cx="4099808" cy="3657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B2422"/>
              </a:buClr>
              <a:buSzPts val="2400"/>
              <a:buFont typeface="Cambria"/>
              <a:buNone/>
            </a:pPr>
            <a:r>
              <a:rPr b="1" i="0" lang="en-US" sz="2400" u="none" cap="none" strike="noStrike">
                <a:solidFill>
                  <a:srgbClr val="2B2422"/>
                </a:solidFill>
                <a:latin typeface="Cambria"/>
                <a:ea typeface="Cambria"/>
                <a:cs typeface="Cambria"/>
                <a:sym typeface="Cambria"/>
              </a:rPr>
              <a:t>Linguistic insights</a:t>
            </a:r>
            <a:endParaRPr b="0" i="0" sz="2400" u="none" cap="none" strike="noStrike">
              <a:solidFill>
                <a:schemeClr val="dk1"/>
              </a:solidFill>
              <a:latin typeface="Calibri"/>
              <a:ea typeface="Calibri"/>
              <a:cs typeface="Calibri"/>
              <a:sym typeface="Calibri"/>
            </a:endParaRPr>
          </a:p>
        </p:txBody>
      </p:sp>
      <p:sp>
        <p:nvSpPr>
          <p:cNvPr id="152" name="Google Shape;152;p6"/>
          <p:cNvSpPr/>
          <p:nvPr/>
        </p:nvSpPr>
        <p:spPr>
          <a:xfrm>
            <a:off x="1536192" y="4987168"/>
            <a:ext cx="4099808"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7E9C8C"/>
              </a:buClr>
              <a:buSzPts val="1200"/>
              <a:buFont typeface="Calibri"/>
              <a:buNone/>
            </a:pPr>
            <a:r>
              <a:rPr b="0" i="1" lang="en-US" sz="1200" u="none" cap="none" strike="noStrike">
                <a:solidFill>
                  <a:srgbClr val="7E9C8C"/>
                </a:solidFill>
                <a:latin typeface="Calibri"/>
                <a:ea typeface="Calibri"/>
                <a:cs typeface="Calibri"/>
                <a:sym typeface="Calibri"/>
              </a:rPr>
              <a:t>How much linguistics is really in it</a:t>
            </a:r>
            <a:endParaRPr b="0" i="0" sz="1200" u="none" cap="none" strike="noStrike">
              <a:solidFill>
                <a:schemeClr val="dk1"/>
              </a:solidFill>
              <a:latin typeface="Calibri"/>
              <a:ea typeface="Calibri"/>
              <a:cs typeface="Calibri"/>
              <a:sym typeface="Calibri"/>
            </a:endParaRPr>
          </a:p>
        </p:txBody>
      </p:sp>
      <p:sp>
        <p:nvSpPr>
          <p:cNvPr id="153" name="Google Shape;153;p6"/>
          <p:cNvSpPr/>
          <p:nvPr/>
        </p:nvSpPr>
        <p:spPr>
          <a:xfrm>
            <a:off x="1005840" y="5426080"/>
            <a:ext cx="4630160" cy="1052720"/>
          </a:xfrm>
          <a:prstGeom prst="rect">
            <a:avLst/>
          </a:prstGeom>
          <a:noFill/>
          <a:ln>
            <a:noFill/>
          </a:ln>
        </p:spPr>
        <p:txBody>
          <a:bodyPr anchorCtr="0" anchor="ctr" bIns="0" lIns="0" spcFirstLastPara="1" rIns="0" wrap="square" tIns="0">
            <a:noAutofit/>
          </a:bodyPr>
          <a:lstStyle/>
          <a:p>
            <a:pPr indent="-342900" lvl="0" marL="342900" marR="0" rtl="0" algn="l">
              <a:lnSpc>
                <a:spcPct val="141666"/>
              </a:lnSpc>
              <a:spcBef>
                <a:spcPts val="0"/>
              </a:spcBef>
              <a:spcAft>
                <a:spcPts val="0"/>
              </a:spcAft>
              <a:buClr>
                <a:srgbClr val="2B2422"/>
              </a:buClr>
              <a:buSzPts val="1200"/>
              <a:buFont typeface="Calibri"/>
              <a:buChar char="•"/>
            </a:pPr>
            <a:r>
              <a:rPr b="0" i="0" lang="en-US" sz="1200" u="none" cap="none" strike="noStrike">
                <a:solidFill>
                  <a:srgbClr val="2B2422"/>
                </a:solidFill>
                <a:latin typeface="Calibri"/>
                <a:ea typeface="Calibri"/>
                <a:cs typeface="Calibri"/>
                <a:sym typeface="Calibri"/>
              </a:rPr>
              <a:t>Two linguists author every instrument item natively, not by translation, and review every scaffolding line by hand. Every reused string in the product traces back to a reviewed row, never an untracked guess.</a:t>
            </a:r>
            <a:endParaRPr b="0" i="0" sz="1200" u="none" cap="none" strike="noStrike">
              <a:solidFill>
                <a:schemeClr val="dk1"/>
              </a:solidFill>
              <a:latin typeface="Calibri"/>
              <a:ea typeface="Calibri"/>
              <a:cs typeface="Calibri"/>
              <a:sym typeface="Calibri"/>
            </a:endParaRPr>
          </a:p>
        </p:txBody>
      </p:sp>
      <p:sp>
        <p:nvSpPr>
          <p:cNvPr id="154" name="Google Shape;154;p6"/>
          <p:cNvSpPr/>
          <p:nvPr/>
        </p:nvSpPr>
        <p:spPr>
          <a:xfrm>
            <a:off x="6256000" y="4328800"/>
            <a:ext cx="5295920" cy="2300000"/>
          </a:xfrm>
          <a:prstGeom prst="roundRect">
            <a:avLst>
              <a:gd fmla="val 3380" name="adj"/>
            </a:avLst>
          </a:prstGeom>
          <a:solidFill>
            <a:srgbClr val="3B232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5" name="Google Shape;155;p6"/>
          <p:cNvSpPr/>
          <p:nvPr/>
        </p:nvSpPr>
        <p:spPr>
          <a:xfrm>
            <a:off x="6576040" y="4621408"/>
            <a:ext cx="420624" cy="420624"/>
          </a:xfrm>
          <a:prstGeom prst="ellipse">
            <a:avLst/>
          </a:prstGeom>
          <a:solidFill>
            <a:srgbClr val="50322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6" name="Google Shape;156;p6"/>
          <p:cNvSpPr/>
          <p:nvPr/>
        </p:nvSpPr>
        <p:spPr>
          <a:xfrm>
            <a:off x="6576040" y="4667128"/>
            <a:ext cx="420624" cy="347472"/>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800"/>
              <a:buFont typeface="Cambria"/>
              <a:buNone/>
            </a:pPr>
            <a:r>
              <a:rPr b="1" i="0" lang="en-US" sz="1800" u="none" cap="none" strike="noStrike">
                <a:solidFill>
                  <a:srgbClr val="FFFFFF"/>
                </a:solidFill>
                <a:latin typeface="Cambria"/>
                <a:ea typeface="Cambria"/>
                <a:cs typeface="Cambria"/>
                <a:sym typeface="Cambria"/>
              </a:rPr>
              <a:t>4</a:t>
            </a:r>
            <a:endParaRPr b="0" i="0" sz="1800" u="none" cap="none" strike="noStrike">
              <a:solidFill>
                <a:schemeClr val="dk1"/>
              </a:solidFill>
              <a:latin typeface="Calibri"/>
              <a:ea typeface="Calibri"/>
              <a:cs typeface="Calibri"/>
              <a:sym typeface="Calibri"/>
            </a:endParaRPr>
          </a:p>
        </p:txBody>
      </p:sp>
      <p:sp>
        <p:nvSpPr>
          <p:cNvPr id="157" name="Google Shape;157;p6"/>
          <p:cNvSpPr/>
          <p:nvPr/>
        </p:nvSpPr>
        <p:spPr>
          <a:xfrm>
            <a:off x="7152112" y="4603120"/>
            <a:ext cx="4099808" cy="3657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2400"/>
              <a:buFont typeface="Cambria"/>
              <a:buNone/>
            </a:pPr>
            <a:r>
              <a:rPr b="1" i="0" lang="en-US" sz="2400" u="none" cap="none" strike="noStrike">
                <a:solidFill>
                  <a:srgbClr val="FFFFFF"/>
                </a:solidFill>
                <a:latin typeface="Cambria"/>
                <a:ea typeface="Cambria"/>
                <a:cs typeface="Cambria"/>
                <a:sym typeface="Cambria"/>
              </a:rPr>
              <a:t>Technicality</a:t>
            </a:r>
            <a:endParaRPr b="0" i="0" sz="2400" u="none" cap="none" strike="noStrike">
              <a:solidFill>
                <a:schemeClr val="dk1"/>
              </a:solidFill>
              <a:latin typeface="Calibri"/>
              <a:ea typeface="Calibri"/>
              <a:cs typeface="Calibri"/>
              <a:sym typeface="Calibri"/>
            </a:endParaRPr>
          </a:p>
        </p:txBody>
      </p:sp>
      <p:sp>
        <p:nvSpPr>
          <p:cNvPr id="158" name="Google Shape;158;p6"/>
          <p:cNvSpPr/>
          <p:nvPr/>
        </p:nvSpPr>
        <p:spPr>
          <a:xfrm>
            <a:off x="7152112" y="4987168"/>
            <a:ext cx="4099808"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7E9C8C"/>
              </a:buClr>
              <a:buSzPts val="1200"/>
              <a:buFont typeface="Calibri"/>
              <a:buNone/>
            </a:pPr>
            <a:r>
              <a:rPr b="0" i="1" lang="en-US" sz="1200" u="none" cap="none" strike="noStrike">
                <a:solidFill>
                  <a:srgbClr val="7E9C8C"/>
                </a:solidFill>
                <a:latin typeface="Calibri"/>
                <a:ea typeface="Calibri"/>
                <a:cs typeface="Calibri"/>
                <a:sym typeface="Calibri"/>
              </a:rPr>
              <a:t>Everything actually working, end to end</a:t>
            </a:r>
            <a:endParaRPr b="0" i="0" sz="1200" u="none" cap="none" strike="noStrike">
              <a:solidFill>
                <a:schemeClr val="dk1"/>
              </a:solidFill>
              <a:latin typeface="Calibri"/>
              <a:ea typeface="Calibri"/>
              <a:cs typeface="Calibri"/>
              <a:sym typeface="Calibri"/>
            </a:endParaRPr>
          </a:p>
        </p:txBody>
      </p:sp>
      <p:sp>
        <p:nvSpPr>
          <p:cNvPr id="159" name="Google Shape;159;p6"/>
          <p:cNvSpPr/>
          <p:nvPr/>
        </p:nvSpPr>
        <p:spPr>
          <a:xfrm>
            <a:off x="6621760" y="5426080"/>
            <a:ext cx="4630160" cy="1052720"/>
          </a:xfrm>
          <a:prstGeom prst="rect">
            <a:avLst/>
          </a:prstGeom>
          <a:noFill/>
          <a:ln>
            <a:noFill/>
          </a:ln>
        </p:spPr>
        <p:txBody>
          <a:bodyPr anchorCtr="0" anchor="ctr" bIns="0" lIns="0" spcFirstLastPara="1" rIns="0" wrap="square" tIns="0">
            <a:noAutofit/>
          </a:bodyPr>
          <a:lstStyle/>
          <a:p>
            <a:pPr indent="-342900" lvl="0" marL="342900" marR="0" rtl="0" algn="l">
              <a:lnSpc>
                <a:spcPct val="141666"/>
              </a:lnSpc>
              <a:spcBef>
                <a:spcPts val="0"/>
              </a:spcBef>
              <a:spcAft>
                <a:spcPts val="0"/>
              </a:spcAft>
              <a:buClr>
                <a:srgbClr val="F0EFE2"/>
              </a:buClr>
              <a:buSzPts val="1200"/>
              <a:buFont typeface="Calibri"/>
              <a:buChar char="•"/>
            </a:pPr>
            <a:r>
              <a:rPr b="0" i="0" lang="en-US" sz="1200" u="none" cap="none" strike="noStrike">
                <a:solidFill>
                  <a:srgbClr val="F0EFE2"/>
                </a:solidFill>
                <a:latin typeface="Calibri"/>
                <a:ea typeface="Calibri"/>
                <a:cs typeface="Calibri"/>
                <a:sym typeface="Calibri"/>
              </a:rPr>
              <a:t>A real pipeline: live Sahara STT integration, a fuzzy edit-distance scoring engine, a dual-language server, and a facilitator-confirmed session UI, demoed on real audio, not mockups.</a:t>
            </a:r>
            <a:endParaRPr b="0" i="0" sz="1200" u="none" cap="none" strike="noStrike">
              <a:solidFill>
                <a:schemeClr val="dk1"/>
              </a:solidFill>
              <a:latin typeface="Calibri"/>
              <a:ea typeface="Calibri"/>
              <a:cs typeface="Calibri"/>
              <a:sym typeface="Calibri"/>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63" name="Shape 163"/>
        <p:cNvGrpSpPr/>
        <p:nvPr/>
      </p:nvGrpSpPr>
      <p:grpSpPr>
        <a:xfrm>
          <a:off x="0" y="0"/>
          <a:ext cx="0" cy="0"/>
          <a:chOff x="0" y="0"/>
          <a:chExt cx="0" cy="0"/>
        </a:xfrm>
      </p:grpSpPr>
      <p:sp>
        <p:nvSpPr>
          <p:cNvPr id="164" name="Google Shape;164;p7"/>
          <p:cNvSpPr/>
          <p:nvPr/>
        </p:nvSpPr>
        <p:spPr>
          <a:xfrm>
            <a:off x="640080" y="502920"/>
            <a:ext cx="10911840" cy="6400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B2422"/>
              </a:buClr>
              <a:buSzPts val="4000"/>
              <a:buFont typeface="Cambria"/>
              <a:buNone/>
            </a:pPr>
            <a:r>
              <a:rPr b="1" i="0" lang="en-US" sz="4000" u="none" cap="none" strike="noStrike">
                <a:solidFill>
                  <a:srgbClr val="2B2422"/>
                </a:solidFill>
                <a:latin typeface="Cambria"/>
                <a:ea typeface="Cambria"/>
                <a:cs typeface="Cambria"/>
                <a:sym typeface="Cambria"/>
              </a:rPr>
              <a:t>What it actually looks like</a:t>
            </a:r>
            <a:endParaRPr b="0" i="0" sz="4000" u="none" cap="none" strike="noStrike">
              <a:solidFill>
                <a:schemeClr val="dk1"/>
              </a:solidFill>
              <a:latin typeface="Calibri"/>
              <a:ea typeface="Calibri"/>
              <a:cs typeface="Calibri"/>
              <a:sym typeface="Calibri"/>
            </a:endParaRPr>
          </a:p>
        </p:txBody>
      </p:sp>
      <p:pic>
        <p:nvPicPr>
          <p:cNvPr descr="protype1.PNG" id="165" name="Google Shape;165;p7"/>
          <p:cNvPicPr preferRelativeResize="0"/>
          <p:nvPr/>
        </p:nvPicPr>
        <p:blipFill rotWithShape="1">
          <a:blip r:embed="rId3">
            <a:alphaModFix/>
          </a:blip>
          <a:srcRect b="0" l="0" r="0" t="0"/>
          <a:stretch/>
        </p:blipFill>
        <p:spPr>
          <a:xfrm>
            <a:off x="640080" y="2122163"/>
            <a:ext cx="5299999" cy="3113106"/>
          </a:xfrm>
          <a:prstGeom prst="rect">
            <a:avLst/>
          </a:prstGeom>
          <a:noFill/>
          <a:ln>
            <a:noFill/>
          </a:ln>
        </p:spPr>
      </p:pic>
      <p:pic>
        <p:nvPicPr>
          <p:cNvPr descr="protype2.PNG" id="166" name="Google Shape;166;p7"/>
          <p:cNvPicPr preferRelativeResize="0"/>
          <p:nvPr/>
        </p:nvPicPr>
        <p:blipFill rotWithShape="1">
          <a:blip r:embed="rId4">
            <a:alphaModFix/>
          </a:blip>
          <a:srcRect b="0" l="0" r="0" t="0"/>
          <a:stretch/>
        </p:blipFill>
        <p:spPr>
          <a:xfrm>
            <a:off x="6250000" y="2157219"/>
            <a:ext cx="5300000" cy="3042993"/>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70" name="Shape 170"/>
        <p:cNvGrpSpPr/>
        <p:nvPr/>
      </p:nvGrpSpPr>
      <p:grpSpPr>
        <a:xfrm>
          <a:off x="0" y="0"/>
          <a:ext cx="0" cy="0"/>
          <a:chOff x="0" y="0"/>
          <a:chExt cx="0" cy="0"/>
        </a:xfrm>
      </p:grpSpPr>
      <p:sp>
        <p:nvSpPr>
          <p:cNvPr id="171" name="Google Shape;171;p8"/>
          <p:cNvSpPr/>
          <p:nvPr/>
        </p:nvSpPr>
        <p:spPr>
          <a:xfrm>
            <a:off x="640080" y="502920"/>
            <a:ext cx="10911840" cy="6400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B2422"/>
              </a:buClr>
              <a:buSzPts val="4000"/>
              <a:buFont typeface="Cambria"/>
              <a:buNone/>
            </a:pPr>
            <a:r>
              <a:rPr b="1" i="0" lang="en-US" sz="4000" u="none" cap="none" strike="noStrike">
                <a:solidFill>
                  <a:srgbClr val="2B2422"/>
                </a:solidFill>
                <a:latin typeface="Cambria"/>
                <a:ea typeface="Cambria"/>
                <a:cs typeface="Cambria"/>
                <a:sym typeface="Cambria"/>
              </a:rPr>
              <a:t>What it actually looks like: one reading check, start to finish</a:t>
            </a:r>
            <a:endParaRPr b="0" i="0" sz="4000" u="none" cap="none" strike="noStrike">
              <a:solidFill>
                <a:schemeClr val="dk1"/>
              </a:solidFill>
              <a:latin typeface="Calibri"/>
              <a:ea typeface="Calibri"/>
              <a:cs typeface="Calibri"/>
              <a:sym typeface="Calibri"/>
            </a:endParaRPr>
          </a:p>
        </p:txBody>
      </p:sp>
      <p:pic>
        <p:nvPicPr>
          <p:cNvPr descr="4.PNG" id="172" name="Google Shape;172;p8"/>
          <p:cNvPicPr preferRelativeResize="0"/>
          <p:nvPr/>
        </p:nvPicPr>
        <p:blipFill rotWithShape="1">
          <a:blip r:embed="rId3">
            <a:alphaModFix/>
          </a:blip>
          <a:srcRect b="0" l="0" r="0" t="0"/>
          <a:stretch/>
        </p:blipFill>
        <p:spPr>
          <a:xfrm>
            <a:off x="640080" y="2984164"/>
            <a:ext cx="2062367" cy="1831671"/>
          </a:xfrm>
          <a:prstGeom prst="rect">
            <a:avLst/>
          </a:prstGeom>
          <a:noFill/>
          <a:ln>
            <a:noFill/>
          </a:ln>
        </p:spPr>
      </p:pic>
      <p:sp>
        <p:nvSpPr>
          <p:cNvPr id="173" name="Google Shape;173;p8"/>
          <p:cNvSpPr/>
          <p:nvPr/>
        </p:nvSpPr>
        <p:spPr>
          <a:xfrm>
            <a:off x="640080" y="6260000"/>
            <a:ext cx="2062368" cy="27432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7E9C8C"/>
              </a:buClr>
              <a:buSzPts val="1200"/>
              <a:buFont typeface="Calibri"/>
              <a:buNone/>
            </a:pPr>
            <a:r>
              <a:rPr b="0" i="1" lang="en-US" sz="1200" u="none" cap="none" strike="noStrike">
                <a:solidFill>
                  <a:srgbClr val="7E9C8C"/>
                </a:solidFill>
                <a:latin typeface="Calibri"/>
                <a:ea typeface="Calibri"/>
                <a:cs typeface="Calibri"/>
                <a:sym typeface="Calibri"/>
              </a:rPr>
              <a:t>1. Ready</a:t>
            </a:r>
            <a:endParaRPr b="0" i="0" sz="1200" u="none" cap="none" strike="noStrike">
              <a:solidFill>
                <a:schemeClr val="dk1"/>
              </a:solidFill>
              <a:latin typeface="Calibri"/>
              <a:ea typeface="Calibri"/>
              <a:cs typeface="Calibri"/>
              <a:sym typeface="Calibri"/>
            </a:endParaRPr>
          </a:p>
        </p:txBody>
      </p:sp>
      <p:pic>
        <p:nvPicPr>
          <p:cNvPr descr="5.PNG" id="174" name="Google Shape;174;p8"/>
          <p:cNvPicPr preferRelativeResize="0"/>
          <p:nvPr/>
        </p:nvPicPr>
        <p:blipFill rotWithShape="1">
          <a:blip r:embed="rId4">
            <a:alphaModFix/>
          </a:blip>
          <a:srcRect b="0" l="0" r="0" t="0"/>
          <a:stretch/>
        </p:blipFill>
        <p:spPr>
          <a:xfrm>
            <a:off x="2852448" y="2964800"/>
            <a:ext cx="2062368" cy="1870399"/>
          </a:xfrm>
          <a:prstGeom prst="rect">
            <a:avLst/>
          </a:prstGeom>
          <a:noFill/>
          <a:ln>
            <a:noFill/>
          </a:ln>
        </p:spPr>
      </p:pic>
      <p:sp>
        <p:nvSpPr>
          <p:cNvPr id="175" name="Google Shape;175;p8"/>
          <p:cNvSpPr/>
          <p:nvPr/>
        </p:nvSpPr>
        <p:spPr>
          <a:xfrm>
            <a:off x="2852448" y="6260000"/>
            <a:ext cx="2062368" cy="27432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7E9C8C"/>
              </a:buClr>
              <a:buSzPts val="1200"/>
              <a:buFont typeface="Calibri"/>
              <a:buNone/>
            </a:pPr>
            <a:r>
              <a:rPr b="0" i="1" lang="en-US" sz="1200" u="none" cap="none" strike="noStrike">
                <a:solidFill>
                  <a:srgbClr val="7E9C8C"/>
                </a:solidFill>
                <a:latin typeface="Calibri"/>
                <a:ea typeface="Calibri"/>
                <a:cs typeface="Calibri"/>
                <a:sym typeface="Calibri"/>
              </a:rPr>
              <a:t>2. Recording</a:t>
            </a:r>
            <a:endParaRPr b="0" i="0" sz="1200" u="none" cap="none" strike="noStrike">
              <a:solidFill>
                <a:schemeClr val="dk1"/>
              </a:solidFill>
              <a:latin typeface="Calibri"/>
              <a:ea typeface="Calibri"/>
              <a:cs typeface="Calibri"/>
              <a:sym typeface="Calibri"/>
            </a:endParaRPr>
          </a:p>
        </p:txBody>
      </p:sp>
      <p:pic>
        <p:nvPicPr>
          <p:cNvPr descr="6.PNG" id="176" name="Google Shape;176;p8"/>
          <p:cNvPicPr preferRelativeResize="0"/>
          <p:nvPr/>
        </p:nvPicPr>
        <p:blipFill rotWithShape="1">
          <a:blip r:embed="rId5">
            <a:alphaModFix/>
          </a:blip>
          <a:srcRect b="0" l="0" r="0" t="0"/>
          <a:stretch/>
        </p:blipFill>
        <p:spPr>
          <a:xfrm>
            <a:off x="5064816" y="3054138"/>
            <a:ext cx="2062368" cy="1691724"/>
          </a:xfrm>
          <a:prstGeom prst="rect">
            <a:avLst/>
          </a:prstGeom>
          <a:noFill/>
          <a:ln>
            <a:noFill/>
          </a:ln>
        </p:spPr>
      </p:pic>
      <p:sp>
        <p:nvSpPr>
          <p:cNvPr id="177" name="Google Shape;177;p8"/>
          <p:cNvSpPr/>
          <p:nvPr/>
        </p:nvSpPr>
        <p:spPr>
          <a:xfrm>
            <a:off x="5064816" y="6260000"/>
            <a:ext cx="2062368" cy="27432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7E9C8C"/>
              </a:buClr>
              <a:buSzPts val="1200"/>
              <a:buFont typeface="Calibri"/>
              <a:buNone/>
            </a:pPr>
            <a:r>
              <a:rPr b="0" i="1" lang="en-US" sz="1200" u="none" cap="none" strike="noStrike">
                <a:solidFill>
                  <a:srgbClr val="7E9C8C"/>
                </a:solidFill>
                <a:latin typeface="Calibri"/>
                <a:ea typeface="Calibri"/>
                <a:cs typeface="Calibri"/>
                <a:sym typeface="Calibri"/>
              </a:rPr>
              <a:t>3. Ntina is thinking</a:t>
            </a:r>
            <a:endParaRPr b="0" i="0" sz="1200" u="none" cap="none" strike="noStrike">
              <a:solidFill>
                <a:schemeClr val="dk1"/>
              </a:solidFill>
              <a:latin typeface="Calibri"/>
              <a:ea typeface="Calibri"/>
              <a:cs typeface="Calibri"/>
              <a:sym typeface="Calibri"/>
            </a:endParaRPr>
          </a:p>
        </p:txBody>
      </p:sp>
      <p:pic>
        <p:nvPicPr>
          <p:cNvPr descr="7.PNG" id="178" name="Google Shape;178;p8"/>
          <p:cNvPicPr preferRelativeResize="0"/>
          <p:nvPr/>
        </p:nvPicPr>
        <p:blipFill rotWithShape="1">
          <a:blip r:embed="rId6">
            <a:alphaModFix/>
          </a:blip>
          <a:srcRect b="0" l="0" r="0" t="0"/>
          <a:stretch/>
        </p:blipFill>
        <p:spPr>
          <a:xfrm>
            <a:off x="7277184" y="2726379"/>
            <a:ext cx="2062368" cy="2347241"/>
          </a:xfrm>
          <a:prstGeom prst="rect">
            <a:avLst/>
          </a:prstGeom>
          <a:noFill/>
          <a:ln>
            <a:noFill/>
          </a:ln>
        </p:spPr>
      </p:pic>
      <p:sp>
        <p:nvSpPr>
          <p:cNvPr id="179" name="Google Shape;179;p8"/>
          <p:cNvSpPr/>
          <p:nvPr/>
        </p:nvSpPr>
        <p:spPr>
          <a:xfrm>
            <a:off x="7277184" y="6260000"/>
            <a:ext cx="2062368" cy="27432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7E9C8C"/>
              </a:buClr>
              <a:buSzPts val="1200"/>
              <a:buFont typeface="Calibri"/>
              <a:buNone/>
            </a:pPr>
            <a:r>
              <a:rPr b="0" i="1" lang="en-US" sz="1200" u="none" cap="none" strike="noStrike">
                <a:solidFill>
                  <a:srgbClr val="7E9C8C"/>
                </a:solidFill>
                <a:latin typeface="Calibri"/>
                <a:ea typeface="Calibri"/>
                <a:cs typeface="Calibri"/>
                <a:sym typeface="Calibri"/>
              </a:rPr>
              <a:t>4. Facilitator confirms</a:t>
            </a:r>
            <a:endParaRPr b="0" i="0" sz="1200" u="none" cap="none" strike="noStrike">
              <a:solidFill>
                <a:schemeClr val="dk1"/>
              </a:solidFill>
              <a:latin typeface="Calibri"/>
              <a:ea typeface="Calibri"/>
              <a:cs typeface="Calibri"/>
              <a:sym typeface="Calibri"/>
            </a:endParaRPr>
          </a:p>
        </p:txBody>
      </p:sp>
      <p:pic>
        <p:nvPicPr>
          <p:cNvPr descr="prototype3.PNG" id="180" name="Google Shape;180;p8"/>
          <p:cNvPicPr preferRelativeResize="0"/>
          <p:nvPr/>
        </p:nvPicPr>
        <p:blipFill rotWithShape="1">
          <a:blip r:embed="rId7">
            <a:alphaModFix/>
          </a:blip>
          <a:srcRect b="0" l="0" r="0" t="0"/>
          <a:stretch/>
        </p:blipFill>
        <p:spPr>
          <a:xfrm>
            <a:off x="9489552" y="2773107"/>
            <a:ext cx="2062368" cy="2253785"/>
          </a:xfrm>
          <a:prstGeom prst="rect">
            <a:avLst/>
          </a:prstGeom>
          <a:noFill/>
          <a:ln>
            <a:noFill/>
          </a:ln>
        </p:spPr>
      </p:pic>
      <p:sp>
        <p:nvSpPr>
          <p:cNvPr id="181" name="Google Shape;181;p8"/>
          <p:cNvSpPr/>
          <p:nvPr/>
        </p:nvSpPr>
        <p:spPr>
          <a:xfrm>
            <a:off x="9489552" y="6260000"/>
            <a:ext cx="2062368" cy="27432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7E9C8C"/>
              </a:buClr>
              <a:buSzPts val="1200"/>
              <a:buFont typeface="Calibri"/>
              <a:buNone/>
            </a:pPr>
            <a:r>
              <a:rPr b="0" i="1" lang="en-US" sz="1200" u="none" cap="none" strike="noStrike">
                <a:solidFill>
                  <a:srgbClr val="7E9C8C"/>
                </a:solidFill>
                <a:latin typeface="Calibri"/>
                <a:ea typeface="Calibri"/>
                <a:cs typeface="Calibri"/>
                <a:sym typeface="Calibri"/>
              </a:rPr>
              <a:t>5. Session complete</a:t>
            </a:r>
            <a:endParaRPr b="0" i="0" sz="1200" u="none" cap="none" strike="noStrike">
              <a:solidFill>
                <a:schemeClr val="dk1"/>
              </a:solidFill>
              <a:latin typeface="Calibri"/>
              <a:ea typeface="Calibri"/>
              <a:cs typeface="Calibri"/>
              <a:sym typeface="Calibri"/>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3B2320"/>
        </a:solidFill>
      </p:bgPr>
    </p:bg>
    <p:spTree>
      <p:nvGrpSpPr>
        <p:cNvPr id="186" name="Shape 186"/>
        <p:cNvGrpSpPr/>
        <p:nvPr/>
      </p:nvGrpSpPr>
      <p:grpSpPr>
        <a:xfrm>
          <a:off x="0" y="0"/>
          <a:ext cx="0" cy="0"/>
          <a:chOff x="0" y="0"/>
          <a:chExt cx="0" cy="0"/>
        </a:xfrm>
      </p:grpSpPr>
      <p:sp>
        <p:nvSpPr>
          <p:cNvPr id="187" name="Google Shape;187;p9"/>
          <p:cNvSpPr/>
          <p:nvPr/>
        </p:nvSpPr>
        <p:spPr>
          <a:xfrm>
            <a:off x="640080" y="502920"/>
            <a:ext cx="8686800" cy="6400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4000"/>
              <a:buFont typeface="Cambria"/>
              <a:buNone/>
            </a:pPr>
            <a:r>
              <a:rPr b="1" i="0" lang="en-US" sz="4000" u="none" cap="none" strike="noStrike">
                <a:solidFill>
                  <a:srgbClr val="FFFFFF"/>
                </a:solidFill>
                <a:latin typeface="Cambria"/>
                <a:ea typeface="Cambria"/>
                <a:cs typeface="Cambria"/>
                <a:sym typeface="Cambria"/>
              </a:rPr>
              <a:t>How we work as a team</a:t>
            </a:r>
            <a:endParaRPr b="0" i="0" sz="4000" u="none" cap="none" strike="noStrike">
              <a:solidFill>
                <a:schemeClr val="dk1"/>
              </a:solidFill>
              <a:latin typeface="Calibri"/>
              <a:ea typeface="Calibri"/>
              <a:cs typeface="Calibri"/>
              <a:sym typeface="Calibri"/>
            </a:endParaRPr>
          </a:p>
        </p:txBody>
      </p:sp>
      <p:sp>
        <p:nvSpPr>
          <p:cNvPr id="188" name="Google Shape;188;p9"/>
          <p:cNvSpPr/>
          <p:nvPr/>
        </p:nvSpPr>
        <p:spPr>
          <a:xfrm>
            <a:off x="658368" y="1207008"/>
            <a:ext cx="8229600" cy="3657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0EFE2"/>
              </a:buClr>
              <a:buSzPts val="1500"/>
              <a:buFont typeface="Calibri"/>
              <a:buNone/>
            </a:pPr>
            <a:r>
              <a:rPr b="0" i="0" lang="en-US" sz="1500" u="none" cap="none" strike="noStrike">
                <a:solidFill>
                  <a:srgbClr val="F0EFE2"/>
                </a:solidFill>
                <a:latin typeface="Calibri"/>
                <a:ea typeface="Calibri"/>
                <a:cs typeface="Calibri"/>
                <a:sym typeface="Calibri"/>
              </a:rPr>
              <a:t>Three people, one build, two deliverables.</a:t>
            </a:r>
            <a:endParaRPr b="0" i="0" sz="150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7E9C8C"/>
              </a:buClr>
              <a:buSzPts val="1300"/>
              <a:buFont typeface="Calibri"/>
              <a:buNone/>
            </a:pPr>
            <a:r>
              <a:rPr b="1" i="0" lang="en-US" sz="1300" u="none" cap="none" strike="noStrike">
                <a:solidFill>
                  <a:srgbClr val="7E9C8C"/>
                </a:solidFill>
                <a:latin typeface="Calibri"/>
                <a:ea typeface="Calibri"/>
                <a:cs typeface="Calibri"/>
                <a:sym typeface="Calibri"/>
              </a:rPr>
              <a:t>github.com/Ashuza11/ntina-tarl</a:t>
            </a:r>
            <a:endParaRPr b="0" i="0" sz="1500" u="none" cap="none" strike="noStrike">
              <a:solidFill>
                <a:schemeClr val="dk1"/>
              </a:solidFill>
              <a:latin typeface="Calibri"/>
              <a:ea typeface="Calibri"/>
              <a:cs typeface="Calibri"/>
              <a:sym typeface="Calibri"/>
            </a:endParaRPr>
          </a:p>
        </p:txBody>
      </p:sp>
      <p:sp>
        <p:nvSpPr>
          <p:cNvPr id="189" name="Google Shape;189;p9"/>
          <p:cNvSpPr/>
          <p:nvPr/>
        </p:nvSpPr>
        <p:spPr>
          <a:xfrm>
            <a:off x="640080" y="1783080"/>
            <a:ext cx="3429000" cy="3246120"/>
          </a:xfrm>
          <a:prstGeom prst="roundRect">
            <a:avLst>
              <a:gd fmla="val 3380" name="adj"/>
            </a:avLst>
          </a:prstGeom>
          <a:solidFill>
            <a:srgbClr val="50322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0" name="Google Shape;190;p9"/>
          <p:cNvSpPr/>
          <p:nvPr/>
        </p:nvSpPr>
        <p:spPr>
          <a:xfrm>
            <a:off x="932688" y="2048256"/>
            <a:ext cx="310896" cy="310896"/>
          </a:xfrm>
          <a:prstGeom prst="ellipse">
            <a:avLst/>
          </a:prstGeom>
          <a:solidFill>
            <a:srgbClr val="B8504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1" name="Google Shape;191;p9"/>
          <p:cNvSpPr/>
          <p:nvPr/>
        </p:nvSpPr>
        <p:spPr>
          <a:xfrm>
            <a:off x="1389888" y="2002536"/>
            <a:ext cx="2560320" cy="3657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2100"/>
              <a:buFont typeface="Cambria"/>
              <a:buNone/>
            </a:pPr>
            <a:r>
              <a:rPr b="1" i="0" lang="en-US" sz="2100" u="none" cap="none" strike="noStrike">
                <a:solidFill>
                  <a:srgbClr val="FFFFFF"/>
                </a:solidFill>
                <a:latin typeface="Cambria"/>
                <a:ea typeface="Cambria"/>
                <a:cs typeface="Cambria"/>
                <a:sym typeface="Cambria"/>
              </a:rPr>
              <a:t>Muhigiri Ashuza</a:t>
            </a:r>
            <a:endParaRPr b="0" i="0" sz="2100" u="none" cap="none" strike="noStrike">
              <a:solidFill>
                <a:schemeClr val="dk1"/>
              </a:solidFill>
              <a:latin typeface="Calibri"/>
              <a:ea typeface="Calibri"/>
              <a:cs typeface="Calibri"/>
              <a:sym typeface="Calibri"/>
            </a:endParaRPr>
          </a:p>
        </p:txBody>
      </p:sp>
      <p:sp>
        <p:nvSpPr>
          <p:cNvPr id="192" name="Google Shape;192;p9"/>
          <p:cNvSpPr/>
          <p:nvPr/>
        </p:nvSpPr>
        <p:spPr>
          <a:xfrm>
            <a:off x="932688" y="2450592"/>
            <a:ext cx="283464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7E9C8C"/>
              </a:buClr>
              <a:buSzPts val="1100"/>
              <a:buFont typeface="Calibri"/>
              <a:buNone/>
            </a:pPr>
            <a:r>
              <a:rPr b="0" i="1" lang="en-US" sz="1100" u="none" cap="none" strike="noStrike">
                <a:solidFill>
                  <a:srgbClr val="7E9C8C"/>
                </a:solidFill>
                <a:latin typeface="Calibri"/>
                <a:ea typeface="Calibri"/>
                <a:cs typeface="Calibri"/>
                <a:sym typeface="Calibri"/>
              </a:rPr>
              <a:t>Developer · Team lead</a:t>
            </a:r>
            <a:endParaRPr b="0" i="0" sz="1100" u="none" cap="none" strike="noStrike">
              <a:solidFill>
                <a:schemeClr val="dk1"/>
              </a:solidFill>
              <a:latin typeface="Calibri"/>
              <a:ea typeface="Calibri"/>
              <a:cs typeface="Calibri"/>
              <a:sym typeface="Calibri"/>
            </a:endParaRPr>
          </a:p>
        </p:txBody>
      </p:sp>
      <p:sp>
        <p:nvSpPr>
          <p:cNvPr id="193" name="Google Shape;193;p9"/>
          <p:cNvSpPr/>
          <p:nvPr/>
        </p:nvSpPr>
        <p:spPr>
          <a:xfrm>
            <a:off x="950976" y="2834640"/>
            <a:ext cx="2834640" cy="2011680"/>
          </a:xfrm>
          <a:prstGeom prst="rect">
            <a:avLst/>
          </a:prstGeom>
          <a:noFill/>
          <a:ln>
            <a:noFill/>
          </a:ln>
        </p:spPr>
        <p:txBody>
          <a:bodyPr anchorCtr="0" anchor="ctr" bIns="0" lIns="0" spcFirstLastPara="1" rIns="0" wrap="square" tIns="0">
            <a:noAutofit/>
          </a:bodyPr>
          <a:lstStyle/>
          <a:p>
            <a:pPr indent="-342900" lvl="0" marL="342900" marR="0" rtl="0" algn="l">
              <a:lnSpc>
                <a:spcPct val="139130"/>
              </a:lnSpc>
              <a:spcBef>
                <a:spcPts val="0"/>
              </a:spcBef>
              <a:spcAft>
                <a:spcPts val="0"/>
              </a:spcAft>
              <a:buClr>
                <a:srgbClr val="F0EFE2"/>
              </a:buClr>
              <a:buSzPts val="1150"/>
              <a:buFont typeface="Calibri"/>
              <a:buChar char="•"/>
            </a:pPr>
            <a:r>
              <a:rPr b="0" i="0" lang="en-US" sz="1150" u="none" cap="none" strike="noStrike">
                <a:solidFill>
                  <a:srgbClr val="F0EFE2"/>
                </a:solidFill>
                <a:latin typeface="Calibri"/>
                <a:ea typeface="Calibri"/>
                <a:cs typeface="Calibri"/>
                <a:sym typeface="Calibri"/>
              </a:rPr>
              <a:t>Sahara v2.5 integration and the agent loop</a:t>
            </a:r>
            <a:endParaRPr b="0" i="0" sz="1150" u="none" cap="none" strike="noStrike">
              <a:solidFill>
                <a:schemeClr val="dk1"/>
              </a:solidFill>
              <a:latin typeface="Calibri"/>
              <a:ea typeface="Calibri"/>
              <a:cs typeface="Calibri"/>
              <a:sym typeface="Calibri"/>
            </a:endParaRPr>
          </a:p>
          <a:p>
            <a:pPr indent="-342900" lvl="0" marL="342900" marR="0" rtl="0" algn="l">
              <a:lnSpc>
                <a:spcPct val="139130"/>
              </a:lnSpc>
              <a:spcBef>
                <a:spcPts val="700"/>
              </a:spcBef>
              <a:spcAft>
                <a:spcPts val="0"/>
              </a:spcAft>
              <a:buClr>
                <a:srgbClr val="F0EFE2"/>
              </a:buClr>
              <a:buSzPts val="1150"/>
              <a:buFont typeface="Calibri"/>
              <a:buChar char="•"/>
            </a:pPr>
            <a:r>
              <a:rPr b="0" i="0" lang="en-US" sz="1150" u="none" cap="none" strike="noStrike">
                <a:solidFill>
                  <a:srgbClr val="F0EFE2"/>
                </a:solidFill>
                <a:latin typeface="Calibri"/>
                <a:ea typeface="Calibri"/>
                <a:cs typeface="Calibri"/>
                <a:sym typeface="Calibri"/>
              </a:rPr>
              <a:t>Constrained decoding for read-aloud scoring</a:t>
            </a:r>
            <a:endParaRPr b="0" i="0" sz="1150" u="none" cap="none" strike="noStrike">
              <a:solidFill>
                <a:schemeClr val="dk1"/>
              </a:solidFill>
              <a:latin typeface="Calibri"/>
              <a:ea typeface="Calibri"/>
              <a:cs typeface="Calibri"/>
              <a:sym typeface="Calibri"/>
            </a:endParaRPr>
          </a:p>
          <a:p>
            <a:pPr indent="-342900" lvl="0" marL="342900" marR="0" rtl="0" algn="l">
              <a:lnSpc>
                <a:spcPct val="139130"/>
              </a:lnSpc>
              <a:spcBef>
                <a:spcPts val="700"/>
              </a:spcBef>
              <a:spcAft>
                <a:spcPts val="0"/>
              </a:spcAft>
              <a:buClr>
                <a:srgbClr val="F0EFE2"/>
              </a:buClr>
              <a:buSzPts val="1150"/>
              <a:buFont typeface="Calibri"/>
              <a:buChar char="•"/>
            </a:pPr>
            <a:r>
              <a:rPr b="0" i="0" lang="en-US" sz="1150" u="none" cap="none" strike="noStrike">
                <a:solidFill>
                  <a:srgbClr val="F0EFE2"/>
                </a:solidFill>
                <a:latin typeface="Calibri"/>
                <a:ea typeface="Calibri"/>
                <a:cs typeface="Calibri"/>
                <a:sym typeface="Calibri"/>
              </a:rPr>
              <a:t>Benchmark harness across three speech models</a:t>
            </a:r>
            <a:endParaRPr b="0" i="0" sz="1150" u="none" cap="none" strike="noStrike">
              <a:solidFill>
                <a:schemeClr val="dk1"/>
              </a:solidFill>
              <a:latin typeface="Calibri"/>
              <a:ea typeface="Calibri"/>
              <a:cs typeface="Calibri"/>
              <a:sym typeface="Calibri"/>
            </a:endParaRPr>
          </a:p>
          <a:p>
            <a:pPr indent="-342900" lvl="0" marL="342900" marR="0" rtl="0" algn="l">
              <a:lnSpc>
                <a:spcPct val="139130"/>
              </a:lnSpc>
              <a:spcBef>
                <a:spcPts val="700"/>
              </a:spcBef>
              <a:spcAft>
                <a:spcPts val="0"/>
              </a:spcAft>
              <a:buClr>
                <a:srgbClr val="F0EFE2"/>
              </a:buClr>
              <a:buSzPts val="1150"/>
              <a:buFont typeface="Calibri"/>
              <a:buChar char="•"/>
            </a:pPr>
            <a:r>
              <a:rPr b="0" i="0" lang="en-US" sz="1150" u="none" cap="none" strike="noStrike">
                <a:solidFill>
                  <a:srgbClr val="F0EFE2"/>
                </a:solidFill>
                <a:latin typeface="Calibri"/>
                <a:ea typeface="Calibri"/>
                <a:cs typeface="Calibri"/>
                <a:sym typeface="Calibri"/>
              </a:rPr>
              <a:t>Offline Android build and sync</a:t>
            </a:r>
            <a:endParaRPr b="0" i="0" sz="1150" u="none" cap="none" strike="noStrike">
              <a:solidFill>
                <a:schemeClr val="dk1"/>
              </a:solidFill>
              <a:latin typeface="Calibri"/>
              <a:ea typeface="Calibri"/>
              <a:cs typeface="Calibri"/>
              <a:sym typeface="Calibri"/>
            </a:endParaRPr>
          </a:p>
          <a:p>
            <a:pPr indent="-342900" lvl="0" marL="342900" marR="0" rtl="0" algn="l">
              <a:lnSpc>
                <a:spcPct val="139130"/>
              </a:lnSpc>
              <a:spcBef>
                <a:spcPts val="700"/>
              </a:spcBef>
              <a:spcAft>
                <a:spcPts val="0"/>
              </a:spcAft>
              <a:buClr>
                <a:srgbClr val="F0EFE2"/>
              </a:buClr>
              <a:buSzPts val="1150"/>
              <a:buFont typeface="Calibri"/>
              <a:buChar char="•"/>
            </a:pPr>
            <a:r>
              <a:rPr b="0" i="0" lang="en-US" sz="1150" u="none" cap="none" strike="noStrike">
                <a:solidFill>
                  <a:srgbClr val="F0EFE2"/>
                </a:solidFill>
                <a:latin typeface="Calibri"/>
                <a:ea typeface="Calibri"/>
                <a:cs typeface="Calibri"/>
                <a:sym typeface="Calibri"/>
              </a:rPr>
              <a:t>Config-per-language architecture</a:t>
            </a:r>
            <a:endParaRPr b="0" i="0" sz="1150" u="none" cap="none" strike="noStrike">
              <a:solidFill>
                <a:schemeClr val="dk1"/>
              </a:solidFill>
              <a:latin typeface="Calibri"/>
              <a:ea typeface="Calibri"/>
              <a:cs typeface="Calibri"/>
              <a:sym typeface="Calibri"/>
            </a:endParaRPr>
          </a:p>
        </p:txBody>
      </p:sp>
      <p:sp>
        <p:nvSpPr>
          <p:cNvPr id="194" name="Google Shape;194;p9"/>
          <p:cNvSpPr/>
          <p:nvPr/>
        </p:nvSpPr>
        <p:spPr>
          <a:xfrm>
            <a:off x="4389120" y="1783080"/>
            <a:ext cx="3429000" cy="3246120"/>
          </a:xfrm>
          <a:prstGeom prst="roundRect">
            <a:avLst>
              <a:gd fmla="val 3380" name="adj"/>
            </a:avLst>
          </a:prstGeom>
          <a:solidFill>
            <a:srgbClr val="50322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5" name="Google Shape;195;p9"/>
          <p:cNvSpPr/>
          <p:nvPr/>
        </p:nvSpPr>
        <p:spPr>
          <a:xfrm>
            <a:off x="4681728" y="2048256"/>
            <a:ext cx="310896" cy="310896"/>
          </a:xfrm>
          <a:prstGeom prst="ellipse">
            <a:avLst/>
          </a:prstGeom>
          <a:solidFill>
            <a:srgbClr val="7E9C8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6" name="Google Shape;196;p9"/>
          <p:cNvSpPr/>
          <p:nvPr/>
        </p:nvSpPr>
        <p:spPr>
          <a:xfrm>
            <a:off x="5138928" y="2002536"/>
            <a:ext cx="2560320" cy="3657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2100"/>
              <a:buFont typeface="Cambria"/>
              <a:buNone/>
            </a:pPr>
            <a:r>
              <a:rPr b="1" i="0" lang="en-US" sz="2100" u="none" cap="none" strike="noStrike">
                <a:solidFill>
                  <a:srgbClr val="FFFFFF"/>
                </a:solidFill>
                <a:latin typeface="Cambria"/>
                <a:ea typeface="Cambria"/>
                <a:cs typeface="Cambria"/>
                <a:sym typeface="Cambria"/>
              </a:rPr>
              <a:t>Olufemi Oyelade</a:t>
            </a:r>
            <a:endParaRPr b="0" i="0" sz="2100" u="none" cap="none" strike="noStrike">
              <a:solidFill>
                <a:schemeClr val="dk1"/>
              </a:solidFill>
              <a:latin typeface="Calibri"/>
              <a:ea typeface="Calibri"/>
              <a:cs typeface="Calibri"/>
              <a:sym typeface="Calibri"/>
            </a:endParaRPr>
          </a:p>
        </p:txBody>
      </p:sp>
      <p:sp>
        <p:nvSpPr>
          <p:cNvPr id="197" name="Google Shape;197;p9"/>
          <p:cNvSpPr/>
          <p:nvPr/>
        </p:nvSpPr>
        <p:spPr>
          <a:xfrm>
            <a:off x="4681728" y="2450592"/>
            <a:ext cx="283464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7E9C8C"/>
              </a:buClr>
              <a:buSzPts val="1100"/>
              <a:buFont typeface="Calibri"/>
              <a:buNone/>
            </a:pPr>
            <a:r>
              <a:rPr b="0" i="1" lang="en-US" sz="1100" u="none" cap="none" strike="noStrike">
                <a:solidFill>
                  <a:srgbClr val="7E9C8C"/>
                </a:solidFill>
                <a:latin typeface="Calibri"/>
                <a:ea typeface="Calibri"/>
                <a:cs typeface="Calibri"/>
                <a:sym typeface="Calibri"/>
              </a:rPr>
              <a:t>Linguist · reading test</a:t>
            </a:r>
            <a:endParaRPr b="0" i="0" sz="1100" u="none" cap="none" strike="noStrike">
              <a:solidFill>
                <a:schemeClr val="dk1"/>
              </a:solidFill>
              <a:latin typeface="Calibri"/>
              <a:ea typeface="Calibri"/>
              <a:cs typeface="Calibri"/>
              <a:sym typeface="Calibri"/>
            </a:endParaRPr>
          </a:p>
        </p:txBody>
      </p:sp>
      <p:sp>
        <p:nvSpPr>
          <p:cNvPr id="198" name="Google Shape;198;p9"/>
          <p:cNvSpPr/>
          <p:nvPr/>
        </p:nvSpPr>
        <p:spPr>
          <a:xfrm>
            <a:off x="4700016" y="2834640"/>
            <a:ext cx="2834640" cy="2011680"/>
          </a:xfrm>
          <a:prstGeom prst="rect">
            <a:avLst/>
          </a:prstGeom>
          <a:noFill/>
          <a:ln>
            <a:noFill/>
          </a:ln>
        </p:spPr>
        <p:txBody>
          <a:bodyPr anchorCtr="0" anchor="ctr" bIns="0" lIns="0" spcFirstLastPara="1" rIns="0" wrap="square" tIns="0">
            <a:noAutofit/>
          </a:bodyPr>
          <a:lstStyle/>
          <a:p>
            <a:pPr indent="-342900" lvl="0" marL="342900" marR="0" rtl="0" algn="l">
              <a:lnSpc>
                <a:spcPct val="139130"/>
              </a:lnSpc>
              <a:spcBef>
                <a:spcPts val="0"/>
              </a:spcBef>
              <a:spcAft>
                <a:spcPts val="0"/>
              </a:spcAft>
              <a:buClr>
                <a:srgbClr val="F0EFE2"/>
              </a:buClr>
              <a:buSzPts val="1150"/>
              <a:buFont typeface="Calibri"/>
              <a:buChar char="•"/>
            </a:pPr>
            <a:r>
              <a:rPr b="0" i="0" lang="en-US" sz="1150" u="none" cap="none" strike="noStrike">
                <a:solidFill>
                  <a:srgbClr val="F0EFE2"/>
                </a:solidFill>
                <a:latin typeface="Calibri"/>
                <a:ea typeface="Calibri"/>
                <a:cs typeface="Calibri"/>
                <a:sym typeface="Calibri"/>
              </a:rPr>
              <a:t>Syllable and word inventories per language</a:t>
            </a:r>
            <a:endParaRPr b="0" i="0" sz="1150" u="none" cap="none" strike="noStrike">
              <a:solidFill>
                <a:schemeClr val="dk1"/>
              </a:solidFill>
              <a:latin typeface="Calibri"/>
              <a:ea typeface="Calibri"/>
              <a:cs typeface="Calibri"/>
              <a:sym typeface="Calibri"/>
            </a:endParaRPr>
          </a:p>
          <a:p>
            <a:pPr indent="-342900" lvl="0" marL="342900" marR="0" rtl="0" algn="l">
              <a:lnSpc>
                <a:spcPct val="139130"/>
              </a:lnSpc>
              <a:spcBef>
                <a:spcPts val="700"/>
              </a:spcBef>
              <a:spcAft>
                <a:spcPts val="0"/>
              </a:spcAft>
              <a:buClr>
                <a:srgbClr val="F0EFE2"/>
              </a:buClr>
              <a:buSzPts val="1150"/>
              <a:buFont typeface="Calibri"/>
              <a:buChar char="•"/>
            </a:pPr>
            <a:r>
              <a:rPr b="0" i="0" lang="en-US" sz="1150" u="none" cap="none" strike="noStrike">
                <a:solidFill>
                  <a:srgbClr val="F0EFE2"/>
                </a:solidFill>
                <a:latin typeface="Calibri"/>
                <a:ea typeface="Calibri"/>
                <a:cs typeface="Calibri"/>
                <a:sym typeface="Calibri"/>
              </a:rPr>
              <a:t>Defines what counts as a word for scoring</a:t>
            </a:r>
            <a:endParaRPr b="0" i="0" sz="1150" u="none" cap="none" strike="noStrike">
              <a:solidFill>
                <a:schemeClr val="dk1"/>
              </a:solidFill>
              <a:latin typeface="Calibri"/>
              <a:ea typeface="Calibri"/>
              <a:cs typeface="Calibri"/>
              <a:sym typeface="Calibri"/>
            </a:endParaRPr>
          </a:p>
          <a:p>
            <a:pPr indent="-342900" lvl="0" marL="342900" marR="0" rtl="0" algn="l">
              <a:lnSpc>
                <a:spcPct val="139130"/>
              </a:lnSpc>
              <a:spcBef>
                <a:spcPts val="700"/>
              </a:spcBef>
              <a:spcAft>
                <a:spcPts val="0"/>
              </a:spcAft>
              <a:buClr>
                <a:srgbClr val="F0EFE2"/>
              </a:buClr>
              <a:buSzPts val="1150"/>
              <a:buFont typeface="Calibri"/>
              <a:buChar char="•"/>
            </a:pPr>
            <a:r>
              <a:rPr b="0" i="0" lang="en-US" sz="1150" u="none" cap="none" strike="noStrike">
                <a:solidFill>
                  <a:srgbClr val="F0EFE2"/>
                </a:solidFill>
                <a:latin typeface="Calibri"/>
                <a:ea typeface="Calibri"/>
                <a:cs typeface="Calibri"/>
                <a:sym typeface="Calibri"/>
              </a:rPr>
              <a:t>Authors paragraphs and short stories</a:t>
            </a:r>
            <a:endParaRPr b="0" i="0" sz="1150" u="none" cap="none" strike="noStrike">
              <a:solidFill>
                <a:schemeClr val="dk1"/>
              </a:solidFill>
              <a:latin typeface="Calibri"/>
              <a:ea typeface="Calibri"/>
              <a:cs typeface="Calibri"/>
              <a:sym typeface="Calibri"/>
            </a:endParaRPr>
          </a:p>
          <a:p>
            <a:pPr indent="-342900" lvl="0" marL="342900" marR="0" rtl="0" algn="l">
              <a:lnSpc>
                <a:spcPct val="139130"/>
              </a:lnSpc>
              <a:spcBef>
                <a:spcPts val="700"/>
              </a:spcBef>
              <a:spcAft>
                <a:spcPts val="0"/>
              </a:spcAft>
              <a:buClr>
                <a:srgbClr val="F0EFE2"/>
              </a:buClr>
              <a:buSzPts val="1150"/>
              <a:buFont typeface="Calibri"/>
              <a:buChar char="•"/>
            </a:pPr>
            <a:r>
              <a:rPr b="0" i="0" lang="en-US" sz="1150" u="none" cap="none" strike="noStrike">
                <a:solidFill>
                  <a:srgbClr val="F0EFE2"/>
                </a:solidFill>
                <a:latin typeface="Calibri"/>
                <a:ea typeface="Calibri"/>
                <a:cs typeface="Calibri"/>
                <a:sym typeface="Calibri"/>
              </a:rPr>
              <a:t>Validates items with local speakers</a:t>
            </a:r>
            <a:endParaRPr b="0" i="0" sz="1150" u="none" cap="none" strike="noStrike">
              <a:solidFill>
                <a:schemeClr val="dk1"/>
              </a:solidFill>
              <a:latin typeface="Calibri"/>
              <a:ea typeface="Calibri"/>
              <a:cs typeface="Calibri"/>
              <a:sym typeface="Calibri"/>
            </a:endParaRPr>
          </a:p>
          <a:p>
            <a:pPr indent="-342900" lvl="0" marL="342900" marR="0" rtl="0" algn="l">
              <a:lnSpc>
                <a:spcPct val="139130"/>
              </a:lnSpc>
              <a:spcBef>
                <a:spcPts val="700"/>
              </a:spcBef>
              <a:spcAft>
                <a:spcPts val="0"/>
              </a:spcAft>
              <a:buClr>
                <a:srgbClr val="F0EFE2"/>
              </a:buClr>
              <a:buSzPts val="1150"/>
              <a:buFont typeface="Calibri"/>
              <a:buChar char="•"/>
            </a:pPr>
            <a:r>
              <a:rPr b="0" i="0" lang="en-US" sz="1150" u="none" cap="none" strike="noStrike">
                <a:solidFill>
                  <a:srgbClr val="F0EFE2"/>
                </a:solidFill>
                <a:latin typeface="Calibri"/>
                <a:ea typeface="Calibri"/>
                <a:cs typeface="Calibri"/>
                <a:sym typeface="Calibri"/>
              </a:rPr>
              <a:t>Leads the adaptation into a related language</a:t>
            </a:r>
            <a:endParaRPr b="0" i="0" sz="1150" u="none" cap="none" strike="noStrike">
              <a:solidFill>
                <a:schemeClr val="dk1"/>
              </a:solidFill>
              <a:latin typeface="Calibri"/>
              <a:ea typeface="Calibri"/>
              <a:cs typeface="Calibri"/>
              <a:sym typeface="Calibri"/>
            </a:endParaRPr>
          </a:p>
        </p:txBody>
      </p:sp>
      <p:sp>
        <p:nvSpPr>
          <p:cNvPr id="199" name="Google Shape;199;p9"/>
          <p:cNvSpPr/>
          <p:nvPr/>
        </p:nvSpPr>
        <p:spPr>
          <a:xfrm>
            <a:off x="8138160" y="1783080"/>
            <a:ext cx="3429000" cy="3246120"/>
          </a:xfrm>
          <a:prstGeom prst="roundRect">
            <a:avLst>
              <a:gd fmla="val 3380" name="adj"/>
            </a:avLst>
          </a:prstGeom>
          <a:solidFill>
            <a:srgbClr val="50322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0" name="Google Shape;200;p9"/>
          <p:cNvSpPr/>
          <p:nvPr/>
        </p:nvSpPr>
        <p:spPr>
          <a:xfrm>
            <a:off x="8430768" y="2048256"/>
            <a:ext cx="310896" cy="310896"/>
          </a:xfrm>
          <a:prstGeom prst="ellipse">
            <a:avLst/>
          </a:prstGeom>
          <a:solidFill>
            <a:srgbClr val="F0EFE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1" name="Google Shape;201;p9"/>
          <p:cNvSpPr/>
          <p:nvPr/>
        </p:nvSpPr>
        <p:spPr>
          <a:xfrm>
            <a:off x="8887968" y="2002536"/>
            <a:ext cx="2560320" cy="3657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2100"/>
              <a:buFont typeface="Cambria"/>
              <a:buNone/>
            </a:pPr>
            <a:r>
              <a:rPr b="1" i="0" lang="en-US" sz="2100" u="none" cap="none" strike="noStrike">
                <a:solidFill>
                  <a:srgbClr val="FFFFFF"/>
                </a:solidFill>
                <a:latin typeface="Cambria"/>
                <a:ea typeface="Cambria"/>
                <a:cs typeface="Cambria"/>
                <a:sym typeface="Cambria"/>
              </a:rPr>
              <a:t>Oladejo Zainab</a:t>
            </a:r>
            <a:endParaRPr b="0" i="0" sz="2100" u="none" cap="none" strike="noStrike">
              <a:solidFill>
                <a:schemeClr val="dk1"/>
              </a:solidFill>
              <a:latin typeface="Calibri"/>
              <a:ea typeface="Calibri"/>
              <a:cs typeface="Calibri"/>
              <a:sym typeface="Calibri"/>
            </a:endParaRPr>
          </a:p>
        </p:txBody>
      </p:sp>
      <p:sp>
        <p:nvSpPr>
          <p:cNvPr id="202" name="Google Shape;202;p9"/>
          <p:cNvSpPr/>
          <p:nvPr/>
        </p:nvSpPr>
        <p:spPr>
          <a:xfrm>
            <a:off x="8430768" y="2450592"/>
            <a:ext cx="283464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7E9C8C"/>
              </a:buClr>
              <a:buSzPts val="1100"/>
              <a:buFont typeface="Calibri"/>
              <a:buNone/>
            </a:pPr>
            <a:r>
              <a:rPr b="0" i="1" lang="en-US" sz="1100" u="none" cap="none" strike="noStrike">
                <a:solidFill>
                  <a:srgbClr val="7E9C8C"/>
                </a:solidFill>
                <a:latin typeface="Calibri"/>
                <a:ea typeface="Calibri"/>
                <a:cs typeface="Calibri"/>
                <a:sym typeface="Calibri"/>
              </a:rPr>
              <a:t>Linguist · agent speech</a:t>
            </a:r>
            <a:endParaRPr b="0" i="0" sz="1100" u="none" cap="none" strike="noStrike">
              <a:solidFill>
                <a:schemeClr val="dk1"/>
              </a:solidFill>
              <a:latin typeface="Calibri"/>
              <a:ea typeface="Calibri"/>
              <a:cs typeface="Calibri"/>
              <a:sym typeface="Calibri"/>
            </a:endParaRPr>
          </a:p>
        </p:txBody>
      </p:sp>
      <p:sp>
        <p:nvSpPr>
          <p:cNvPr id="203" name="Google Shape;203;p9"/>
          <p:cNvSpPr/>
          <p:nvPr/>
        </p:nvSpPr>
        <p:spPr>
          <a:xfrm>
            <a:off x="8449056" y="2834640"/>
            <a:ext cx="2834640" cy="2011680"/>
          </a:xfrm>
          <a:prstGeom prst="rect">
            <a:avLst/>
          </a:prstGeom>
          <a:noFill/>
          <a:ln>
            <a:noFill/>
          </a:ln>
        </p:spPr>
        <p:txBody>
          <a:bodyPr anchorCtr="0" anchor="ctr" bIns="0" lIns="0" spcFirstLastPara="1" rIns="0" wrap="square" tIns="0">
            <a:noAutofit/>
          </a:bodyPr>
          <a:lstStyle/>
          <a:p>
            <a:pPr indent="-342900" lvl="0" marL="342900" marR="0" rtl="0" algn="l">
              <a:lnSpc>
                <a:spcPct val="139130"/>
              </a:lnSpc>
              <a:spcBef>
                <a:spcPts val="0"/>
              </a:spcBef>
              <a:spcAft>
                <a:spcPts val="0"/>
              </a:spcAft>
              <a:buClr>
                <a:srgbClr val="F0EFE2"/>
              </a:buClr>
              <a:buSzPts val="1150"/>
              <a:buFont typeface="Calibri"/>
              <a:buChar char="•"/>
            </a:pPr>
            <a:r>
              <a:rPr b="0" i="0" lang="en-US" sz="1150" u="none" cap="none" strike="noStrike">
                <a:solidFill>
                  <a:srgbClr val="F0EFE2"/>
                </a:solidFill>
                <a:latin typeface="Calibri"/>
                <a:ea typeface="Calibri"/>
                <a:cs typeface="Calibri"/>
                <a:sym typeface="Calibri"/>
              </a:rPr>
              <a:t>Writes what the agent says, in register</a:t>
            </a:r>
            <a:endParaRPr b="0" i="0" sz="1150" u="none" cap="none" strike="noStrike">
              <a:solidFill>
                <a:schemeClr val="dk1"/>
              </a:solidFill>
              <a:latin typeface="Calibri"/>
              <a:ea typeface="Calibri"/>
              <a:cs typeface="Calibri"/>
              <a:sym typeface="Calibri"/>
            </a:endParaRPr>
          </a:p>
          <a:p>
            <a:pPr indent="-342900" lvl="0" marL="342900" marR="0" rtl="0" algn="l">
              <a:lnSpc>
                <a:spcPct val="139130"/>
              </a:lnSpc>
              <a:spcBef>
                <a:spcPts val="700"/>
              </a:spcBef>
              <a:spcAft>
                <a:spcPts val="0"/>
              </a:spcAft>
              <a:buClr>
                <a:srgbClr val="F0EFE2"/>
              </a:buClr>
              <a:buSzPts val="1150"/>
              <a:buFont typeface="Calibri"/>
              <a:buChar char="•"/>
            </a:pPr>
            <a:r>
              <a:rPr b="0" i="0" lang="en-US" sz="1150" u="none" cap="none" strike="noStrike">
                <a:solidFill>
                  <a:srgbClr val="F0EFE2"/>
                </a:solidFill>
                <a:latin typeface="Calibri"/>
                <a:ea typeface="Calibri"/>
                <a:cs typeface="Calibri"/>
                <a:sym typeface="Calibri"/>
              </a:rPr>
              <a:t>Designs the code-switching annotation scheme</a:t>
            </a:r>
            <a:endParaRPr b="0" i="0" sz="1150" u="none" cap="none" strike="noStrike">
              <a:solidFill>
                <a:schemeClr val="dk1"/>
              </a:solidFill>
              <a:latin typeface="Calibri"/>
              <a:ea typeface="Calibri"/>
              <a:cs typeface="Calibri"/>
              <a:sym typeface="Calibri"/>
            </a:endParaRPr>
          </a:p>
          <a:p>
            <a:pPr indent="-342900" lvl="0" marL="342900" marR="0" rtl="0" algn="l">
              <a:lnSpc>
                <a:spcPct val="139130"/>
              </a:lnSpc>
              <a:spcBef>
                <a:spcPts val="700"/>
              </a:spcBef>
              <a:spcAft>
                <a:spcPts val="0"/>
              </a:spcAft>
              <a:buClr>
                <a:srgbClr val="F0EFE2"/>
              </a:buClr>
              <a:buSzPts val="1150"/>
              <a:buFont typeface="Calibri"/>
              <a:buChar char="•"/>
            </a:pPr>
            <a:r>
              <a:rPr b="0" i="0" lang="en-US" sz="1150" u="none" cap="none" strike="noStrike">
                <a:solidFill>
                  <a:srgbClr val="F0EFE2"/>
                </a:solidFill>
                <a:latin typeface="Calibri"/>
                <a:ea typeface="Calibri"/>
                <a:cs typeface="Calibri"/>
                <a:sym typeface="Calibri"/>
              </a:rPr>
              <a:t>Recruits speakers and runs recordings</a:t>
            </a:r>
            <a:endParaRPr b="0" i="0" sz="1150" u="none" cap="none" strike="noStrike">
              <a:solidFill>
                <a:schemeClr val="dk1"/>
              </a:solidFill>
              <a:latin typeface="Calibri"/>
              <a:ea typeface="Calibri"/>
              <a:cs typeface="Calibri"/>
              <a:sym typeface="Calibri"/>
            </a:endParaRPr>
          </a:p>
          <a:p>
            <a:pPr indent="-342900" lvl="0" marL="342900" marR="0" rtl="0" algn="l">
              <a:lnSpc>
                <a:spcPct val="139130"/>
              </a:lnSpc>
              <a:spcBef>
                <a:spcPts val="700"/>
              </a:spcBef>
              <a:spcAft>
                <a:spcPts val="0"/>
              </a:spcAft>
              <a:buClr>
                <a:srgbClr val="F0EFE2"/>
              </a:buClr>
              <a:buSzPts val="1150"/>
              <a:buFont typeface="Calibri"/>
              <a:buChar char="•"/>
            </a:pPr>
            <a:r>
              <a:rPr b="0" i="0" lang="en-US" sz="1150" u="none" cap="none" strike="noStrike">
                <a:solidFill>
                  <a:srgbClr val="F0EFE2"/>
                </a:solidFill>
                <a:latin typeface="Calibri"/>
                <a:ea typeface="Calibri"/>
                <a:cs typeface="Calibri"/>
                <a:sym typeface="Calibri"/>
              </a:rPr>
              <a:t>Consent forms and data handling</a:t>
            </a:r>
            <a:endParaRPr b="0" i="0" sz="1150" u="none" cap="none" strike="noStrike">
              <a:solidFill>
                <a:schemeClr val="dk1"/>
              </a:solidFill>
              <a:latin typeface="Calibri"/>
              <a:ea typeface="Calibri"/>
              <a:cs typeface="Calibri"/>
              <a:sym typeface="Calibri"/>
            </a:endParaRPr>
          </a:p>
          <a:p>
            <a:pPr indent="-342900" lvl="0" marL="342900" marR="0" rtl="0" algn="l">
              <a:lnSpc>
                <a:spcPct val="139130"/>
              </a:lnSpc>
              <a:spcBef>
                <a:spcPts val="700"/>
              </a:spcBef>
              <a:spcAft>
                <a:spcPts val="0"/>
              </a:spcAft>
              <a:buClr>
                <a:srgbClr val="F0EFE2"/>
              </a:buClr>
              <a:buSzPts val="1150"/>
              <a:buFont typeface="Calibri"/>
              <a:buChar char="•"/>
            </a:pPr>
            <a:r>
              <a:rPr b="0" i="0" lang="en-US" sz="1150" u="none" cap="none" strike="noStrike">
                <a:solidFill>
                  <a:srgbClr val="F0EFE2"/>
                </a:solidFill>
                <a:latin typeface="Calibri"/>
                <a:ea typeface="Calibri"/>
                <a:cs typeface="Calibri"/>
                <a:sym typeface="Calibri"/>
              </a:rPr>
              <a:t>Double-annotates for agreement scoring</a:t>
            </a:r>
            <a:endParaRPr b="0" i="0" sz="1150" u="none" cap="none" strike="noStrike">
              <a:solidFill>
                <a:schemeClr val="dk1"/>
              </a:solidFill>
              <a:latin typeface="Calibri"/>
              <a:ea typeface="Calibri"/>
              <a:cs typeface="Calibri"/>
              <a:sym typeface="Calibri"/>
            </a:endParaRPr>
          </a:p>
        </p:txBody>
      </p:sp>
      <p:pic>
        <p:nvPicPr>
          <p:cNvPr descr="Logo.png" id="204" name="Google Shape;204;p9"/>
          <p:cNvPicPr preferRelativeResize="0"/>
          <p:nvPr/>
        </p:nvPicPr>
        <p:blipFill rotWithShape="1">
          <a:blip r:embed="rId3">
            <a:alphaModFix/>
          </a:blip>
          <a:srcRect b="0" l="0" r="0" t="0"/>
          <a:stretch/>
        </p:blipFill>
        <p:spPr>
          <a:xfrm>
            <a:off x="10092000" y="350000"/>
            <a:ext cx="1600000" cy="683733"/>
          </a:xfrm>
          <a:prstGeom prst="rect">
            <a:avLst/>
          </a:prstGeom>
          <a:noFill/>
          <a:ln>
            <a:noFill/>
          </a:ln>
        </p:spPr>
      </p:pic>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2026-08-12T18:48:36Z</dcterms:created>
  <dc:creator>PptxGenJS</dc:creator>
</cp:coreProperties>
</file>